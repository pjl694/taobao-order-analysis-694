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embeddedFontLst>
    <p:embeddedFont>
      <p:font typeface="微软雅黑" panose="020B0503020204020204" charset="-122"/>
      <p:regular r:id="rId22"/>
    </p:embeddedFont>
    <p:embeddedFont>
      <p:font typeface="MiSans" pitchFamily="34" charset="-120"/>
      <p:regular r:id="rId23"/>
    </p:embeddedFont>
    <p:embeddedFont>
      <p:font typeface="MiSans" pitchFamily="34" charset="-122"/>
      <p:regular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  <p:embeddedFont>
      <p:font typeface="等线" panose="02010600030101010101" charset="-122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E9FA"/>
    <a:srgbClr val="DCF0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.png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../media/image3.png"/><Relationship Id="rId3" Type="http://schemas.openxmlformats.org/officeDocument/2006/relationships/tags" Target="../tags/tag1.xml"/><Relationship Id="rId2" Type="http://schemas.openxmlformats.org/officeDocument/2006/relationships/image" Target="../media/image2.jpe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tags" Target="../tags/tag5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4.jpe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image" Target="../media/image13.png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image" Target="../media/image15.png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11.png"/><Relationship Id="rId6" Type="http://schemas.openxmlformats.org/officeDocument/2006/relationships/image" Target="../media/image13.png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image" Target="../media/image15.png"/><Relationship Id="rId2" Type="http://schemas.openxmlformats.org/officeDocument/2006/relationships/tags" Target="../tags/tag22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image" Target="../media/image13.png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2" Type="http://schemas.openxmlformats.org/officeDocument/2006/relationships/notesSlide" Target="../notesSlides/notesSlide9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17.png"/><Relationship Id="rId2" Type="http://schemas.openxmlformats.org/officeDocument/2006/relationships/tags" Target="../tags/tag31.xml"/><Relationship Id="rId19" Type="http://schemas.openxmlformats.org/officeDocument/2006/relationships/image" Target="../media/image16.png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image" Target="../media/image13.png"/><Relationship Id="rId2" Type="http://schemas.openxmlformats.org/officeDocument/2006/relationships/tags" Target="../tags/tag47.xml"/><Relationship Id="rId18" Type="http://schemas.openxmlformats.org/officeDocument/2006/relationships/notesSlide" Target="../notesSlides/notesSlide10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8.png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image" Target="../media/image9.png"/><Relationship Id="rId4" Type="http://schemas.openxmlformats.org/officeDocument/2006/relationships/image" Target="../media/image13.png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8" Type="http://schemas.openxmlformats.org/officeDocument/2006/relationships/notesSlide" Target="../notesSlides/notesSlide11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20.png"/><Relationship Id="rId15" Type="http://schemas.openxmlformats.org/officeDocument/2006/relationships/image" Target="../media/image19.png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3.png"/><Relationship Id="rId3" Type="http://schemas.openxmlformats.org/officeDocument/2006/relationships/image" Target="../media/image6.png"/><Relationship Id="rId2" Type="http://schemas.openxmlformats.org/officeDocument/2006/relationships/image" Target="../media/image21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image" Target="../media/image3.png"/><Relationship Id="rId5" Type="http://schemas.openxmlformats.org/officeDocument/2006/relationships/tags" Target="../tags/tag7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3" Type="http://schemas.openxmlformats.org/officeDocument/2006/relationships/notesSlide" Target="../notesSlides/notesSlide15.xml"/><Relationship Id="rId12" Type="http://schemas.openxmlformats.org/officeDocument/2006/relationships/slideLayout" Target="../slideLayouts/slideLayout1.xml"/><Relationship Id="rId11" Type="http://schemas.openxmlformats.org/officeDocument/2006/relationships/hyperlink" Target="github.com/PJL694/taobao-order-analysis-694" TargetMode="External"/><Relationship Id="rId10" Type="http://schemas.openxmlformats.org/officeDocument/2006/relationships/tags" Target="../tags/tag75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1-d3dpatos8jdo4os5dgc0.jpg"/>
          <p:cNvPicPr>
            <a:picLocks noChangeAspect="1"/>
          </p:cNvPicPr>
          <p:nvPr/>
        </p:nvPicPr>
        <p:blipFill>
          <a:blip r:embed="rId2"/>
          <a:srcRect t="81" b="81"/>
          <a:stretch>
            <a:fillRect/>
          </a:stretch>
        </p:blipFill>
        <p:spPr>
          <a:xfrm rot="21600000">
            <a:off x="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475" y="792480"/>
            <a:ext cx="7359015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运营商用户行为分析与用户分群</a:t>
            </a:r>
            <a:endParaRPr lang="en-US" sz="6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pic>
        <p:nvPicPr>
          <p:cNvPr id="4" name="Image 1" descr="https://kimi-img.moonshot.cn/pub/slides/slides_tmpl/image/25-09-30-16:31:50-d3dpatgs8jdo4os5dgb0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-4251" t="-10515" r="-1259" b="-11753"/>
          <a:stretch>
            <a:fillRect/>
          </a:stretch>
        </p:blipFill>
        <p:spPr>
          <a:xfrm>
            <a:off x="743585" y="5060950"/>
            <a:ext cx="2561590" cy="753110"/>
          </a:xfrm>
          <a:prstGeom prst="rect">
            <a:avLst/>
          </a:prstGeom>
        </p:spPr>
      </p:pic>
      <p:sp>
        <p:nvSpPr>
          <p:cNvPr id="5" name="Text 1"/>
          <p:cNvSpPr/>
          <p:nvPr>
            <p:custDataLst>
              <p:tags r:id="rId5"/>
            </p:custDataLst>
          </p:nvPr>
        </p:nvSpPr>
        <p:spPr>
          <a:xfrm>
            <a:off x="743585" y="5234305"/>
            <a:ext cx="256159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汇报人: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蒲俊霖</a:t>
            </a: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6" name="Image 2" descr="https://kimi-img.moonshot.cn/pub/slides/slides_tmpl/image/25-09-30-16:31:50-d3dpatgs8jdo4os5dgb0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"/>
          <a:srcRect l="-3093" t="-7577" r="-2849" b="-8754"/>
          <a:stretch>
            <a:fillRect/>
          </a:stretch>
        </p:blipFill>
        <p:spPr>
          <a:xfrm>
            <a:off x="3312160" y="5060950"/>
            <a:ext cx="2702560" cy="753110"/>
          </a:xfrm>
          <a:prstGeom prst="rect">
            <a:avLst/>
          </a:prstGeom>
        </p:spPr>
      </p:pic>
      <p:sp>
        <p:nvSpPr>
          <p:cNvPr id="7" name="Text 2"/>
          <p:cNvSpPr/>
          <p:nvPr>
            <p:custDataLst>
              <p:tags r:id="rId7"/>
            </p:custDataLst>
          </p:nvPr>
        </p:nvSpPr>
        <p:spPr>
          <a:xfrm>
            <a:off x="3395980" y="5234305"/>
            <a:ext cx="256222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时间:2026/04/05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30-16:31:50-d3dpatgs8jdo4os5dgb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60000">
            <a:off x="7219950" y="1313815"/>
            <a:ext cx="4137025" cy="479044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56590" y="3064510"/>
            <a:ext cx="6552565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Python·SPSS·Power BI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的数据分析项目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i0.png"/>
          <p:cNvPicPr>
            <a:picLocks noChangeAspect="1"/>
          </p:cNvPicPr>
          <p:nvPr/>
        </p:nvPicPr>
        <p:blipFill>
          <a:blip r:embed="rId2"/>
          <a:srcRect t="81" b="81"/>
          <a:stretch>
            <a:fillRect/>
          </a:stretch>
        </p:blipFill>
        <p:spPr>
          <a:xfrm flipH="1">
            <a:off x="0" y="0"/>
            <a:ext cx="12213590" cy="68707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30-16:31:52-d3dpau0s8jdo4os5dgcg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05655" y="4933315"/>
            <a:ext cx="708660" cy="70866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30-16:31:52-d3dpau0s8jdo4os5dgcg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49115" y="3595370"/>
            <a:ext cx="708660" cy="70866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30-16:31:52-d3dpau0s8jdo4os5dgeg.png"/>
          <p:cNvPicPr>
            <a:picLocks noChangeAspect="1"/>
          </p:cNvPicPr>
          <p:nvPr/>
        </p:nvPicPr>
        <p:blipFill>
          <a:blip r:embed="rId4"/>
          <a:srcRect t="2769" b="2769"/>
          <a:stretch>
            <a:fillRect/>
          </a:stretch>
        </p:blipFill>
        <p:spPr>
          <a:xfrm>
            <a:off x="2066290" y="-364490"/>
            <a:ext cx="2270125" cy="7018655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30-16:31:52-d3dpau0s8jdo4os5dgcg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32555" y="2358390"/>
            <a:ext cx="708660" cy="708660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3519805" y="831850"/>
            <a:ext cx="2698115" cy="11080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Text 1"/>
          <p:cNvSpPr/>
          <p:nvPr/>
        </p:nvSpPr>
        <p:spPr>
          <a:xfrm>
            <a:off x="3519805" y="831850"/>
            <a:ext cx="2698115" cy="1108075"/>
          </a:xfrm>
          <a:prstGeom prst="rect">
            <a:avLst/>
          </a:prstGeom>
          <a:noFill/>
        </p:spPr>
        <p:txBody>
          <a:bodyPr wrap="square" lIns="46863" tIns="90043" rIns="90043" bIns="46863" rtlCol="0" anchor="b"/>
          <a:lstStyle/>
          <a:p>
            <a:pPr>
              <a:lnSpc>
                <a:spcPct val="100000"/>
              </a:lnSpc>
            </a:pPr>
            <a:r>
              <a:rPr lang="en-US" sz="6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5558155" y="1205865"/>
            <a:ext cx="2884805" cy="5909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0000">
                    <a:alpha val="5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10" name="Image 5" descr="https://kimi-img.moonshot.cn/pub/slides/slides_tmpl/image/25-09-30-16:31:52-d3dpau0s8jdo4os5dge0.png"/>
          <p:cNvPicPr>
            <a:picLocks noChangeAspect="1"/>
          </p:cNvPicPr>
          <p:nvPr/>
        </p:nvPicPr>
        <p:blipFill>
          <a:blip r:embed="rId5"/>
          <a:srcRect t="399" b="399"/>
          <a:stretch>
            <a:fillRect/>
          </a:stretch>
        </p:blipFill>
        <p:spPr>
          <a:xfrm flipV="1">
            <a:off x="3519805" y="3092450"/>
            <a:ext cx="7240270" cy="139065"/>
          </a:xfrm>
          <a:prstGeom prst="rect">
            <a:avLst/>
          </a:prstGeom>
        </p:spPr>
      </p:pic>
      <p:pic>
        <p:nvPicPr>
          <p:cNvPr id="11" name="Image 6" descr="https://kimi-img.moonshot.cn/pub/slides/slides_tmpl/image/25-09-30-16:31:52-d3dpau0s8jdo4os5dge0.png"/>
          <p:cNvPicPr>
            <a:picLocks noChangeAspect="1"/>
          </p:cNvPicPr>
          <p:nvPr/>
        </p:nvPicPr>
        <p:blipFill>
          <a:blip r:embed="rId5"/>
          <a:srcRect t="399" b="399"/>
          <a:stretch>
            <a:fillRect/>
          </a:stretch>
        </p:blipFill>
        <p:spPr>
          <a:xfrm flipV="1">
            <a:off x="3890645" y="4338320"/>
            <a:ext cx="7240270" cy="139065"/>
          </a:xfrm>
          <a:prstGeom prst="rect">
            <a:avLst/>
          </a:prstGeom>
        </p:spPr>
      </p:pic>
      <p:pic>
        <p:nvPicPr>
          <p:cNvPr id="12" name="Image 7" descr="https://kimi-img.moonshot.cn/pub/slides/slides_tmpl/image/25-09-30-16:31:52-d3dpau0s8jdo4os5dge0.png"/>
          <p:cNvPicPr>
            <a:picLocks noChangeAspect="1"/>
          </p:cNvPicPr>
          <p:nvPr/>
        </p:nvPicPr>
        <p:blipFill>
          <a:blip r:embed="rId5"/>
          <a:srcRect t="399" b="399"/>
          <a:stretch>
            <a:fillRect/>
          </a:stretch>
        </p:blipFill>
        <p:spPr>
          <a:xfrm flipV="1">
            <a:off x="4138295" y="5619750"/>
            <a:ext cx="7240270" cy="139065"/>
          </a:xfrm>
          <a:prstGeom prst="rect">
            <a:avLst/>
          </a:prstGeom>
        </p:spPr>
      </p:pic>
      <p:pic>
        <p:nvPicPr>
          <p:cNvPr id="13" name="Image 8" descr="https://kimi-img.moonshot.cn/pub/slides/slides_tmpl/image/25-09-30-16:31:52-d3dpau0s8jdo4os5dgf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45" y="2680335"/>
            <a:ext cx="2727960" cy="282067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3874135" y="2439035"/>
            <a:ext cx="838835" cy="5909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4"/>
          <p:cNvSpPr/>
          <p:nvPr/>
        </p:nvSpPr>
        <p:spPr>
          <a:xfrm>
            <a:off x="4751705" y="2489835"/>
            <a:ext cx="6096000" cy="4296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kern="0" spc="3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项目概况</a:t>
            </a:r>
            <a:endParaRPr lang="en-US" sz="1600" dirty="0"/>
          </a:p>
        </p:txBody>
      </p:sp>
      <p:sp>
        <p:nvSpPr>
          <p:cNvPr id="16" name="Text 5"/>
          <p:cNvSpPr/>
          <p:nvPr/>
        </p:nvSpPr>
        <p:spPr>
          <a:xfrm>
            <a:off x="4300220" y="3683635"/>
            <a:ext cx="838835" cy="5909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6"/>
          <p:cNvSpPr/>
          <p:nvPr/>
        </p:nvSpPr>
        <p:spPr>
          <a:xfrm>
            <a:off x="5171440" y="3734435"/>
            <a:ext cx="6096000" cy="4296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分析成果</a:t>
            </a:r>
            <a:endParaRPr lang="en-US" sz="1600" dirty="0"/>
          </a:p>
        </p:txBody>
      </p:sp>
      <p:sp>
        <p:nvSpPr>
          <p:cNvPr id="18" name="Text 7"/>
          <p:cNvSpPr/>
          <p:nvPr/>
        </p:nvSpPr>
        <p:spPr>
          <a:xfrm>
            <a:off x="4540885" y="5006975"/>
            <a:ext cx="838835" cy="5909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8"/>
          <p:cNvSpPr/>
          <p:nvPr/>
        </p:nvSpPr>
        <p:spPr>
          <a:xfrm>
            <a:off x="5418455" y="5070475"/>
            <a:ext cx="6096000" cy="4296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策略输出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1-d3dpatos8jdo4os5dgc0.jpg"/>
          <p:cNvPicPr>
            <a:picLocks noChangeAspect="1"/>
          </p:cNvPicPr>
          <p:nvPr/>
        </p:nvPicPr>
        <p:blipFill>
          <a:blip r:embed="rId2"/>
          <a:srcRect t="81" b="81"/>
          <a:stretch>
            <a:fillRect/>
          </a:stretch>
        </p:blipFill>
        <p:spPr>
          <a:xfrm rot="21600000">
            <a:off x="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17533" y="3429000"/>
            <a:ext cx="5956935" cy="828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1199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项目概况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117533" y="1860550"/>
            <a:ext cx="5956935" cy="15729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1199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30-16:31:52-d3dpau0s8jdo4os5dg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465" y="1539875"/>
            <a:ext cx="2349500" cy="273304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30-16:31:52-d3dpau0s8jdo4os5dgf0.png"/>
          <p:cNvPicPr>
            <a:picLocks noChangeAspect="1"/>
          </p:cNvPicPr>
          <p:nvPr/>
        </p:nvPicPr>
        <p:blipFill>
          <a:blip r:embed="rId4"/>
          <a:srcRect t="3182" b="3182"/>
          <a:stretch>
            <a:fillRect/>
          </a:stretch>
        </p:blipFill>
        <p:spPr>
          <a:xfrm rot="3660000">
            <a:off x="9880600" y="4845050"/>
            <a:ext cx="1117600" cy="101790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724515" y="549275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2:11-d3dpb2os8jdo4os5dgq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-1403" t="-3454" r="-948" b="-772"/>
          <a:stretch>
            <a:fillRect/>
          </a:stretch>
        </p:blipFill>
        <p:spPr>
          <a:xfrm>
            <a:off x="957580" y="1794510"/>
            <a:ext cx="4865370" cy="4262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01275" y="669925"/>
            <a:ext cx="1160145" cy="687070"/>
          </a:xfrm>
          <a:custGeom>
            <a:avLst/>
            <a:gdLst/>
            <a:ahLst/>
            <a:cxnLst/>
            <a:rect l="l" t="t" r="r" b="b"/>
            <a:pathLst>
              <a:path w="1160145" h="687070">
                <a:moveTo>
                  <a:pt x="51650" y="24496"/>
                </a:moveTo>
                <a:cubicBezTo>
                  <a:pt x="51650" y="38078"/>
                  <a:pt x="39866" y="49088"/>
                  <a:pt x="25329" y="49088"/>
                </a:cubicBezTo>
                <a:cubicBezTo>
                  <a:pt x="10793" y="49088"/>
                  <a:pt x="-991" y="38078"/>
                  <a:pt x="-991" y="24496"/>
                </a:cubicBezTo>
                <a:cubicBezTo>
                  <a:pt x="-991" y="10914"/>
                  <a:pt x="10793" y="-96"/>
                  <a:pt x="25329" y="-96"/>
                </a:cubicBezTo>
                <a:cubicBezTo>
                  <a:pt x="39860" y="-103"/>
                  <a:pt x="51642" y="10898"/>
                  <a:pt x="51650" y="24472"/>
                </a:cubicBezTo>
                <a:cubicBezTo>
                  <a:pt x="51650" y="24481"/>
                  <a:pt x="51650" y="24489"/>
                  <a:pt x="51650" y="24496"/>
                </a:cubicBezTo>
                <a:close/>
                <a:moveTo>
                  <a:pt x="273361" y="24496"/>
                </a:moveTo>
                <a:cubicBezTo>
                  <a:pt x="273361" y="38078"/>
                  <a:pt x="261577" y="49088"/>
                  <a:pt x="247041" y="49088"/>
                </a:cubicBezTo>
                <a:cubicBezTo>
                  <a:pt x="232505" y="49088"/>
                  <a:pt x="220720" y="38078"/>
                  <a:pt x="220720" y="24496"/>
                </a:cubicBezTo>
                <a:cubicBezTo>
                  <a:pt x="220720" y="10914"/>
                  <a:pt x="232505" y="-96"/>
                  <a:pt x="247041" y="-96"/>
                </a:cubicBezTo>
                <a:cubicBezTo>
                  <a:pt x="261569" y="-80"/>
                  <a:pt x="273345" y="10921"/>
                  <a:pt x="273361" y="24496"/>
                </a:cubicBezTo>
                <a:close/>
                <a:moveTo>
                  <a:pt x="495012" y="24496"/>
                </a:moveTo>
                <a:cubicBezTo>
                  <a:pt x="495012" y="38078"/>
                  <a:pt x="483227" y="49088"/>
                  <a:pt x="468691" y="49088"/>
                </a:cubicBezTo>
                <a:cubicBezTo>
                  <a:pt x="454155" y="49088"/>
                  <a:pt x="442371" y="38078"/>
                  <a:pt x="442371" y="24496"/>
                </a:cubicBezTo>
                <a:cubicBezTo>
                  <a:pt x="442371" y="10914"/>
                  <a:pt x="454155" y="-96"/>
                  <a:pt x="468691" y="-96"/>
                </a:cubicBezTo>
                <a:cubicBezTo>
                  <a:pt x="483220" y="-103"/>
                  <a:pt x="495003" y="10898"/>
                  <a:pt x="495012" y="24472"/>
                </a:cubicBezTo>
                <a:cubicBezTo>
                  <a:pt x="495012" y="24481"/>
                  <a:pt x="495012" y="24489"/>
                  <a:pt x="495012" y="24496"/>
                </a:cubicBezTo>
                <a:close/>
                <a:moveTo>
                  <a:pt x="716723" y="24496"/>
                </a:moveTo>
                <a:cubicBezTo>
                  <a:pt x="716723" y="38078"/>
                  <a:pt x="704939" y="49088"/>
                  <a:pt x="690403" y="49088"/>
                </a:cubicBezTo>
                <a:cubicBezTo>
                  <a:pt x="675866" y="49088"/>
                  <a:pt x="664082" y="38078"/>
                  <a:pt x="664082" y="24496"/>
                </a:cubicBezTo>
                <a:cubicBezTo>
                  <a:pt x="664082" y="10914"/>
                  <a:pt x="675866" y="-96"/>
                  <a:pt x="690403" y="-96"/>
                </a:cubicBezTo>
                <a:cubicBezTo>
                  <a:pt x="704933" y="-103"/>
                  <a:pt x="716715" y="10898"/>
                  <a:pt x="716723" y="24472"/>
                </a:cubicBezTo>
                <a:cubicBezTo>
                  <a:pt x="716723" y="24481"/>
                  <a:pt x="716723" y="24489"/>
                  <a:pt x="716723" y="24496"/>
                </a:cubicBezTo>
                <a:close/>
                <a:moveTo>
                  <a:pt x="938435" y="24496"/>
                </a:moveTo>
                <a:cubicBezTo>
                  <a:pt x="938435" y="38078"/>
                  <a:pt x="926651" y="49088"/>
                  <a:pt x="912114" y="49088"/>
                </a:cubicBezTo>
                <a:cubicBezTo>
                  <a:pt x="897579" y="49088"/>
                  <a:pt x="885794" y="38078"/>
                  <a:pt x="885794" y="24496"/>
                </a:cubicBezTo>
                <a:cubicBezTo>
                  <a:pt x="885794" y="10914"/>
                  <a:pt x="897579" y="-96"/>
                  <a:pt x="912114" y="-96"/>
                </a:cubicBezTo>
                <a:cubicBezTo>
                  <a:pt x="926644" y="-103"/>
                  <a:pt x="938427" y="10898"/>
                  <a:pt x="938435" y="24472"/>
                </a:cubicBezTo>
                <a:cubicBezTo>
                  <a:pt x="938435" y="24481"/>
                  <a:pt x="938435" y="24489"/>
                  <a:pt x="938435" y="24496"/>
                </a:cubicBezTo>
                <a:close/>
                <a:moveTo>
                  <a:pt x="1160145" y="24496"/>
                </a:moveTo>
                <a:cubicBezTo>
                  <a:pt x="1160145" y="38078"/>
                  <a:pt x="1148361" y="49088"/>
                  <a:pt x="1133824" y="49088"/>
                </a:cubicBezTo>
                <a:cubicBezTo>
                  <a:pt x="1119288" y="49088"/>
                  <a:pt x="1107504" y="38078"/>
                  <a:pt x="1107504" y="24496"/>
                </a:cubicBezTo>
                <a:cubicBezTo>
                  <a:pt x="1107504" y="10914"/>
                  <a:pt x="1119288" y="-96"/>
                  <a:pt x="1133824" y="-96"/>
                </a:cubicBezTo>
                <a:cubicBezTo>
                  <a:pt x="1148353" y="-80"/>
                  <a:pt x="1160129" y="10921"/>
                  <a:pt x="1160145" y="24496"/>
                </a:cubicBezTo>
                <a:close/>
                <a:moveTo>
                  <a:pt x="51650" y="183992"/>
                </a:moveTo>
                <a:cubicBezTo>
                  <a:pt x="51650" y="197573"/>
                  <a:pt x="39866" y="208584"/>
                  <a:pt x="25329" y="208584"/>
                </a:cubicBezTo>
                <a:cubicBezTo>
                  <a:pt x="10793" y="208584"/>
                  <a:pt x="-991" y="197573"/>
                  <a:pt x="-991" y="183992"/>
                </a:cubicBezTo>
                <a:cubicBezTo>
                  <a:pt x="-991" y="170410"/>
                  <a:pt x="10793" y="159400"/>
                  <a:pt x="25329" y="159400"/>
                </a:cubicBezTo>
                <a:cubicBezTo>
                  <a:pt x="39860" y="159393"/>
                  <a:pt x="51642" y="170393"/>
                  <a:pt x="51650" y="183969"/>
                </a:cubicBezTo>
                <a:cubicBezTo>
                  <a:pt x="51650" y="183976"/>
                  <a:pt x="51650" y="183984"/>
                  <a:pt x="51650" y="183992"/>
                </a:cubicBezTo>
                <a:close/>
                <a:moveTo>
                  <a:pt x="273361" y="183992"/>
                </a:moveTo>
                <a:cubicBezTo>
                  <a:pt x="273361" y="197573"/>
                  <a:pt x="261577" y="208584"/>
                  <a:pt x="247041" y="208584"/>
                </a:cubicBezTo>
                <a:cubicBezTo>
                  <a:pt x="232505" y="208584"/>
                  <a:pt x="220720" y="197573"/>
                  <a:pt x="220720" y="183992"/>
                </a:cubicBezTo>
                <a:cubicBezTo>
                  <a:pt x="220720" y="170410"/>
                  <a:pt x="232505" y="159400"/>
                  <a:pt x="247041" y="159400"/>
                </a:cubicBezTo>
                <a:cubicBezTo>
                  <a:pt x="261569" y="159416"/>
                  <a:pt x="273345" y="170416"/>
                  <a:pt x="273361" y="183992"/>
                </a:cubicBezTo>
                <a:close/>
                <a:moveTo>
                  <a:pt x="495012" y="183992"/>
                </a:moveTo>
                <a:cubicBezTo>
                  <a:pt x="495012" y="197573"/>
                  <a:pt x="483227" y="208584"/>
                  <a:pt x="468691" y="208584"/>
                </a:cubicBezTo>
                <a:cubicBezTo>
                  <a:pt x="454155" y="208584"/>
                  <a:pt x="442371" y="197573"/>
                  <a:pt x="442371" y="183992"/>
                </a:cubicBezTo>
                <a:cubicBezTo>
                  <a:pt x="442371" y="170410"/>
                  <a:pt x="454155" y="159400"/>
                  <a:pt x="468691" y="159400"/>
                </a:cubicBezTo>
                <a:cubicBezTo>
                  <a:pt x="483220" y="159393"/>
                  <a:pt x="495003" y="170393"/>
                  <a:pt x="495012" y="183969"/>
                </a:cubicBezTo>
                <a:cubicBezTo>
                  <a:pt x="495012" y="183976"/>
                  <a:pt x="495012" y="183984"/>
                  <a:pt x="495012" y="183992"/>
                </a:cubicBezTo>
                <a:close/>
                <a:moveTo>
                  <a:pt x="716723" y="183992"/>
                </a:moveTo>
                <a:cubicBezTo>
                  <a:pt x="716723" y="197573"/>
                  <a:pt x="704939" y="208584"/>
                  <a:pt x="690403" y="208584"/>
                </a:cubicBezTo>
                <a:cubicBezTo>
                  <a:pt x="675866" y="208584"/>
                  <a:pt x="664082" y="197573"/>
                  <a:pt x="664082" y="183992"/>
                </a:cubicBezTo>
                <a:cubicBezTo>
                  <a:pt x="664082" y="170410"/>
                  <a:pt x="675866" y="159400"/>
                  <a:pt x="690403" y="159400"/>
                </a:cubicBezTo>
                <a:cubicBezTo>
                  <a:pt x="704933" y="159393"/>
                  <a:pt x="716715" y="170393"/>
                  <a:pt x="716723" y="183969"/>
                </a:cubicBezTo>
                <a:cubicBezTo>
                  <a:pt x="716723" y="183976"/>
                  <a:pt x="716723" y="183984"/>
                  <a:pt x="716723" y="183992"/>
                </a:cubicBezTo>
                <a:close/>
                <a:moveTo>
                  <a:pt x="938435" y="183992"/>
                </a:moveTo>
                <a:cubicBezTo>
                  <a:pt x="938435" y="197573"/>
                  <a:pt x="926651" y="208584"/>
                  <a:pt x="912114" y="208584"/>
                </a:cubicBezTo>
                <a:cubicBezTo>
                  <a:pt x="897579" y="208584"/>
                  <a:pt x="885794" y="197573"/>
                  <a:pt x="885794" y="183992"/>
                </a:cubicBezTo>
                <a:cubicBezTo>
                  <a:pt x="885794" y="170410"/>
                  <a:pt x="897579" y="159400"/>
                  <a:pt x="912114" y="159400"/>
                </a:cubicBezTo>
                <a:cubicBezTo>
                  <a:pt x="926644" y="159393"/>
                  <a:pt x="938427" y="170393"/>
                  <a:pt x="938435" y="183969"/>
                </a:cubicBezTo>
                <a:cubicBezTo>
                  <a:pt x="938435" y="183976"/>
                  <a:pt x="938435" y="183984"/>
                  <a:pt x="938435" y="183992"/>
                </a:cubicBezTo>
                <a:close/>
                <a:moveTo>
                  <a:pt x="1160145" y="183992"/>
                </a:moveTo>
                <a:cubicBezTo>
                  <a:pt x="1160145" y="197573"/>
                  <a:pt x="1148361" y="208584"/>
                  <a:pt x="1133824" y="208584"/>
                </a:cubicBezTo>
                <a:cubicBezTo>
                  <a:pt x="1119288" y="208584"/>
                  <a:pt x="1107504" y="197573"/>
                  <a:pt x="1107504" y="183992"/>
                </a:cubicBezTo>
                <a:cubicBezTo>
                  <a:pt x="1107504" y="170410"/>
                  <a:pt x="1119288" y="159400"/>
                  <a:pt x="1133824" y="159400"/>
                </a:cubicBezTo>
                <a:cubicBezTo>
                  <a:pt x="1148353" y="159416"/>
                  <a:pt x="1160129" y="170416"/>
                  <a:pt x="1160145" y="183992"/>
                </a:cubicBezTo>
                <a:close/>
                <a:moveTo>
                  <a:pt x="51650" y="343487"/>
                </a:moveTo>
                <a:cubicBezTo>
                  <a:pt x="51650" y="357069"/>
                  <a:pt x="39866" y="368079"/>
                  <a:pt x="25329" y="368079"/>
                </a:cubicBezTo>
                <a:cubicBezTo>
                  <a:pt x="10793" y="368079"/>
                  <a:pt x="-991" y="357069"/>
                  <a:pt x="-991" y="343487"/>
                </a:cubicBezTo>
                <a:cubicBezTo>
                  <a:pt x="-991" y="329905"/>
                  <a:pt x="10793" y="318895"/>
                  <a:pt x="25329" y="318895"/>
                </a:cubicBezTo>
                <a:cubicBezTo>
                  <a:pt x="39860" y="318888"/>
                  <a:pt x="51642" y="329888"/>
                  <a:pt x="51650" y="343463"/>
                </a:cubicBezTo>
                <a:cubicBezTo>
                  <a:pt x="51650" y="343471"/>
                  <a:pt x="51650" y="343479"/>
                  <a:pt x="51650" y="343487"/>
                </a:cubicBezTo>
                <a:close/>
                <a:moveTo>
                  <a:pt x="273361" y="343487"/>
                </a:moveTo>
                <a:cubicBezTo>
                  <a:pt x="273361" y="357069"/>
                  <a:pt x="261577" y="368079"/>
                  <a:pt x="247041" y="368079"/>
                </a:cubicBezTo>
                <a:cubicBezTo>
                  <a:pt x="232505" y="368079"/>
                  <a:pt x="220720" y="357069"/>
                  <a:pt x="220720" y="343487"/>
                </a:cubicBezTo>
                <a:cubicBezTo>
                  <a:pt x="220720" y="329905"/>
                  <a:pt x="232505" y="318895"/>
                  <a:pt x="247041" y="318895"/>
                </a:cubicBezTo>
                <a:cubicBezTo>
                  <a:pt x="261569" y="318911"/>
                  <a:pt x="273345" y="329912"/>
                  <a:pt x="273361" y="343487"/>
                </a:cubicBezTo>
                <a:close/>
                <a:moveTo>
                  <a:pt x="495012" y="343487"/>
                </a:moveTo>
                <a:cubicBezTo>
                  <a:pt x="495012" y="357069"/>
                  <a:pt x="483227" y="368079"/>
                  <a:pt x="468691" y="368079"/>
                </a:cubicBezTo>
                <a:cubicBezTo>
                  <a:pt x="454155" y="368079"/>
                  <a:pt x="442371" y="357069"/>
                  <a:pt x="442371" y="343487"/>
                </a:cubicBezTo>
                <a:cubicBezTo>
                  <a:pt x="442371" y="329905"/>
                  <a:pt x="454155" y="318895"/>
                  <a:pt x="468691" y="318895"/>
                </a:cubicBezTo>
                <a:cubicBezTo>
                  <a:pt x="483220" y="318888"/>
                  <a:pt x="495003" y="329888"/>
                  <a:pt x="495012" y="343463"/>
                </a:cubicBezTo>
                <a:cubicBezTo>
                  <a:pt x="495012" y="343471"/>
                  <a:pt x="495012" y="343479"/>
                  <a:pt x="495012" y="343487"/>
                </a:cubicBezTo>
                <a:close/>
                <a:moveTo>
                  <a:pt x="716723" y="343487"/>
                </a:moveTo>
                <a:cubicBezTo>
                  <a:pt x="716723" y="357069"/>
                  <a:pt x="704939" y="368079"/>
                  <a:pt x="690403" y="368079"/>
                </a:cubicBezTo>
                <a:cubicBezTo>
                  <a:pt x="675866" y="368079"/>
                  <a:pt x="664082" y="357069"/>
                  <a:pt x="664082" y="343487"/>
                </a:cubicBezTo>
                <a:cubicBezTo>
                  <a:pt x="664082" y="329905"/>
                  <a:pt x="675866" y="318895"/>
                  <a:pt x="690403" y="318895"/>
                </a:cubicBezTo>
                <a:cubicBezTo>
                  <a:pt x="704933" y="318888"/>
                  <a:pt x="716715" y="329888"/>
                  <a:pt x="716723" y="343463"/>
                </a:cubicBezTo>
                <a:cubicBezTo>
                  <a:pt x="716723" y="343471"/>
                  <a:pt x="716723" y="343479"/>
                  <a:pt x="716723" y="343487"/>
                </a:cubicBezTo>
                <a:close/>
                <a:moveTo>
                  <a:pt x="938435" y="343487"/>
                </a:moveTo>
                <a:cubicBezTo>
                  <a:pt x="938435" y="357069"/>
                  <a:pt x="926651" y="368079"/>
                  <a:pt x="912114" y="368079"/>
                </a:cubicBezTo>
                <a:cubicBezTo>
                  <a:pt x="897579" y="368079"/>
                  <a:pt x="885794" y="357069"/>
                  <a:pt x="885794" y="343487"/>
                </a:cubicBezTo>
                <a:cubicBezTo>
                  <a:pt x="885794" y="329905"/>
                  <a:pt x="897579" y="318895"/>
                  <a:pt x="912114" y="318895"/>
                </a:cubicBezTo>
                <a:cubicBezTo>
                  <a:pt x="926644" y="318888"/>
                  <a:pt x="938427" y="329888"/>
                  <a:pt x="938435" y="343463"/>
                </a:cubicBezTo>
                <a:cubicBezTo>
                  <a:pt x="938435" y="343471"/>
                  <a:pt x="938435" y="343479"/>
                  <a:pt x="938435" y="343487"/>
                </a:cubicBezTo>
                <a:close/>
                <a:moveTo>
                  <a:pt x="1160145" y="343487"/>
                </a:moveTo>
                <a:cubicBezTo>
                  <a:pt x="1160145" y="357069"/>
                  <a:pt x="1148361" y="368079"/>
                  <a:pt x="1133824" y="368079"/>
                </a:cubicBezTo>
                <a:cubicBezTo>
                  <a:pt x="1119288" y="368079"/>
                  <a:pt x="1107504" y="357069"/>
                  <a:pt x="1107504" y="343487"/>
                </a:cubicBezTo>
                <a:cubicBezTo>
                  <a:pt x="1107504" y="329905"/>
                  <a:pt x="1119288" y="318895"/>
                  <a:pt x="1133824" y="318895"/>
                </a:cubicBezTo>
                <a:cubicBezTo>
                  <a:pt x="1148353" y="318911"/>
                  <a:pt x="1160129" y="329912"/>
                  <a:pt x="1160145" y="343487"/>
                </a:cubicBezTo>
                <a:close/>
                <a:moveTo>
                  <a:pt x="51650" y="502982"/>
                </a:moveTo>
                <a:cubicBezTo>
                  <a:pt x="51650" y="516564"/>
                  <a:pt x="39866" y="527575"/>
                  <a:pt x="25329" y="527575"/>
                </a:cubicBezTo>
                <a:cubicBezTo>
                  <a:pt x="10793" y="527575"/>
                  <a:pt x="-991" y="516564"/>
                  <a:pt x="-991" y="502982"/>
                </a:cubicBezTo>
                <a:cubicBezTo>
                  <a:pt x="-991" y="489401"/>
                  <a:pt x="10793" y="478390"/>
                  <a:pt x="25329" y="478390"/>
                </a:cubicBezTo>
                <a:cubicBezTo>
                  <a:pt x="39860" y="478384"/>
                  <a:pt x="51642" y="489383"/>
                  <a:pt x="51650" y="502959"/>
                </a:cubicBezTo>
                <a:cubicBezTo>
                  <a:pt x="51650" y="502967"/>
                  <a:pt x="51650" y="502975"/>
                  <a:pt x="51650" y="502982"/>
                </a:cubicBezTo>
                <a:close/>
                <a:moveTo>
                  <a:pt x="273361" y="502982"/>
                </a:moveTo>
                <a:cubicBezTo>
                  <a:pt x="273361" y="516564"/>
                  <a:pt x="261577" y="527575"/>
                  <a:pt x="247041" y="527575"/>
                </a:cubicBezTo>
                <a:cubicBezTo>
                  <a:pt x="232505" y="527575"/>
                  <a:pt x="220720" y="516564"/>
                  <a:pt x="220720" y="502982"/>
                </a:cubicBezTo>
                <a:cubicBezTo>
                  <a:pt x="220720" y="489401"/>
                  <a:pt x="232505" y="478390"/>
                  <a:pt x="247041" y="478390"/>
                </a:cubicBezTo>
                <a:cubicBezTo>
                  <a:pt x="261569" y="478407"/>
                  <a:pt x="273345" y="489407"/>
                  <a:pt x="273361" y="502982"/>
                </a:cubicBezTo>
                <a:close/>
                <a:moveTo>
                  <a:pt x="495012" y="502982"/>
                </a:moveTo>
                <a:cubicBezTo>
                  <a:pt x="495012" y="516564"/>
                  <a:pt x="483227" y="527575"/>
                  <a:pt x="468691" y="527575"/>
                </a:cubicBezTo>
                <a:cubicBezTo>
                  <a:pt x="454155" y="527575"/>
                  <a:pt x="442371" y="516564"/>
                  <a:pt x="442371" y="502982"/>
                </a:cubicBezTo>
                <a:cubicBezTo>
                  <a:pt x="442371" y="489401"/>
                  <a:pt x="454155" y="478390"/>
                  <a:pt x="468691" y="478390"/>
                </a:cubicBezTo>
                <a:cubicBezTo>
                  <a:pt x="483220" y="478384"/>
                  <a:pt x="495003" y="489383"/>
                  <a:pt x="495012" y="502959"/>
                </a:cubicBezTo>
                <a:cubicBezTo>
                  <a:pt x="495012" y="502967"/>
                  <a:pt x="495012" y="502975"/>
                  <a:pt x="495012" y="502982"/>
                </a:cubicBezTo>
                <a:close/>
                <a:moveTo>
                  <a:pt x="716723" y="502982"/>
                </a:moveTo>
                <a:cubicBezTo>
                  <a:pt x="716723" y="516564"/>
                  <a:pt x="704939" y="527575"/>
                  <a:pt x="690403" y="527575"/>
                </a:cubicBezTo>
                <a:cubicBezTo>
                  <a:pt x="675866" y="527575"/>
                  <a:pt x="664082" y="516564"/>
                  <a:pt x="664082" y="502982"/>
                </a:cubicBezTo>
                <a:cubicBezTo>
                  <a:pt x="664082" y="489401"/>
                  <a:pt x="675866" y="478390"/>
                  <a:pt x="690403" y="478390"/>
                </a:cubicBezTo>
                <a:cubicBezTo>
                  <a:pt x="704933" y="478384"/>
                  <a:pt x="716715" y="489383"/>
                  <a:pt x="716723" y="502959"/>
                </a:cubicBezTo>
                <a:cubicBezTo>
                  <a:pt x="716723" y="502967"/>
                  <a:pt x="716723" y="502975"/>
                  <a:pt x="716723" y="502982"/>
                </a:cubicBezTo>
                <a:close/>
                <a:moveTo>
                  <a:pt x="938435" y="502982"/>
                </a:moveTo>
                <a:cubicBezTo>
                  <a:pt x="938435" y="516564"/>
                  <a:pt x="926651" y="527575"/>
                  <a:pt x="912114" y="527575"/>
                </a:cubicBezTo>
                <a:cubicBezTo>
                  <a:pt x="897579" y="527575"/>
                  <a:pt x="885794" y="516564"/>
                  <a:pt x="885794" y="502982"/>
                </a:cubicBezTo>
                <a:cubicBezTo>
                  <a:pt x="885794" y="489401"/>
                  <a:pt x="897579" y="478390"/>
                  <a:pt x="912114" y="478390"/>
                </a:cubicBezTo>
                <a:cubicBezTo>
                  <a:pt x="926644" y="478384"/>
                  <a:pt x="938427" y="489383"/>
                  <a:pt x="938435" y="502959"/>
                </a:cubicBezTo>
                <a:cubicBezTo>
                  <a:pt x="938435" y="502967"/>
                  <a:pt x="938435" y="502975"/>
                  <a:pt x="938435" y="502982"/>
                </a:cubicBezTo>
                <a:close/>
                <a:moveTo>
                  <a:pt x="1160145" y="502982"/>
                </a:moveTo>
                <a:cubicBezTo>
                  <a:pt x="1160145" y="516564"/>
                  <a:pt x="1148361" y="527575"/>
                  <a:pt x="1133824" y="527575"/>
                </a:cubicBezTo>
                <a:cubicBezTo>
                  <a:pt x="1119288" y="527575"/>
                  <a:pt x="1107504" y="516564"/>
                  <a:pt x="1107504" y="502982"/>
                </a:cubicBezTo>
                <a:cubicBezTo>
                  <a:pt x="1107504" y="489401"/>
                  <a:pt x="1119288" y="478390"/>
                  <a:pt x="1133824" y="478390"/>
                </a:cubicBezTo>
                <a:cubicBezTo>
                  <a:pt x="1148353" y="478407"/>
                  <a:pt x="1160129" y="489407"/>
                  <a:pt x="1160145" y="502982"/>
                </a:cubicBezTo>
                <a:close/>
                <a:moveTo>
                  <a:pt x="51650" y="662478"/>
                </a:moveTo>
                <a:cubicBezTo>
                  <a:pt x="51650" y="676060"/>
                  <a:pt x="39866" y="687070"/>
                  <a:pt x="25329" y="687070"/>
                </a:cubicBezTo>
                <a:cubicBezTo>
                  <a:pt x="10793" y="687070"/>
                  <a:pt x="-991" y="676060"/>
                  <a:pt x="-991" y="662478"/>
                </a:cubicBezTo>
                <a:cubicBezTo>
                  <a:pt x="-991" y="648896"/>
                  <a:pt x="10793" y="637886"/>
                  <a:pt x="25329" y="637886"/>
                </a:cubicBezTo>
                <a:cubicBezTo>
                  <a:pt x="39860" y="637879"/>
                  <a:pt x="51642" y="648879"/>
                  <a:pt x="51650" y="662454"/>
                </a:cubicBezTo>
                <a:cubicBezTo>
                  <a:pt x="51650" y="662462"/>
                  <a:pt x="51650" y="662469"/>
                  <a:pt x="51650" y="662478"/>
                </a:cubicBezTo>
                <a:close/>
                <a:moveTo>
                  <a:pt x="273361" y="662478"/>
                </a:moveTo>
                <a:cubicBezTo>
                  <a:pt x="273361" y="676060"/>
                  <a:pt x="261577" y="687070"/>
                  <a:pt x="247041" y="687070"/>
                </a:cubicBezTo>
                <a:cubicBezTo>
                  <a:pt x="232505" y="687070"/>
                  <a:pt x="220720" y="676060"/>
                  <a:pt x="220720" y="662478"/>
                </a:cubicBezTo>
                <a:cubicBezTo>
                  <a:pt x="220720" y="648896"/>
                  <a:pt x="232505" y="637886"/>
                  <a:pt x="247041" y="637886"/>
                </a:cubicBezTo>
                <a:cubicBezTo>
                  <a:pt x="261569" y="637901"/>
                  <a:pt x="273345" y="648903"/>
                  <a:pt x="273361" y="662478"/>
                </a:cubicBezTo>
                <a:close/>
                <a:moveTo>
                  <a:pt x="495012" y="662478"/>
                </a:moveTo>
                <a:cubicBezTo>
                  <a:pt x="495012" y="676060"/>
                  <a:pt x="483227" y="687070"/>
                  <a:pt x="468691" y="687070"/>
                </a:cubicBezTo>
                <a:cubicBezTo>
                  <a:pt x="454155" y="687070"/>
                  <a:pt x="442371" y="676060"/>
                  <a:pt x="442371" y="662478"/>
                </a:cubicBezTo>
                <a:cubicBezTo>
                  <a:pt x="442371" y="648896"/>
                  <a:pt x="454155" y="637886"/>
                  <a:pt x="468691" y="637886"/>
                </a:cubicBezTo>
                <a:cubicBezTo>
                  <a:pt x="483220" y="637879"/>
                  <a:pt x="495003" y="648879"/>
                  <a:pt x="495012" y="662454"/>
                </a:cubicBezTo>
                <a:cubicBezTo>
                  <a:pt x="495012" y="662462"/>
                  <a:pt x="495012" y="662469"/>
                  <a:pt x="495012" y="662478"/>
                </a:cubicBezTo>
                <a:close/>
                <a:moveTo>
                  <a:pt x="716723" y="662478"/>
                </a:moveTo>
                <a:cubicBezTo>
                  <a:pt x="716723" y="676060"/>
                  <a:pt x="704939" y="687070"/>
                  <a:pt x="690403" y="687070"/>
                </a:cubicBezTo>
                <a:cubicBezTo>
                  <a:pt x="675866" y="687070"/>
                  <a:pt x="664082" y="676060"/>
                  <a:pt x="664082" y="662478"/>
                </a:cubicBezTo>
                <a:cubicBezTo>
                  <a:pt x="664082" y="648896"/>
                  <a:pt x="675866" y="637886"/>
                  <a:pt x="690403" y="637886"/>
                </a:cubicBezTo>
                <a:cubicBezTo>
                  <a:pt x="704933" y="637879"/>
                  <a:pt x="716715" y="648879"/>
                  <a:pt x="716723" y="662454"/>
                </a:cubicBezTo>
                <a:cubicBezTo>
                  <a:pt x="716723" y="662462"/>
                  <a:pt x="716723" y="662469"/>
                  <a:pt x="716723" y="662478"/>
                </a:cubicBezTo>
                <a:close/>
                <a:moveTo>
                  <a:pt x="938435" y="662478"/>
                </a:moveTo>
                <a:cubicBezTo>
                  <a:pt x="938435" y="676060"/>
                  <a:pt x="926651" y="687070"/>
                  <a:pt x="912114" y="687070"/>
                </a:cubicBezTo>
                <a:cubicBezTo>
                  <a:pt x="897579" y="687070"/>
                  <a:pt x="885794" y="676060"/>
                  <a:pt x="885794" y="662478"/>
                </a:cubicBezTo>
                <a:cubicBezTo>
                  <a:pt x="885794" y="648896"/>
                  <a:pt x="897579" y="637886"/>
                  <a:pt x="912114" y="637886"/>
                </a:cubicBezTo>
                <a:cubicBezTo>
                  <a:pt x="926644" y="637879"/>
                  <a:pt x="938427" y="648879"/>
                  <a:pt x="938435" y="662454"/>
                </a:cubicBezTo>
                <a:cubicBezTo>
                  <a:pt x="938435" y="662462"/>
                  <a:pt x="938435" y="662469"/>
                  <a:pt x="938435" y="662478"/>
                </a:cubicBezTo>
                <a:close/>
                <a:moveTo>
                  <a:pt x="1160145" y="662478"/>
                </a:moveTo>
                <a:cubicBezTo>
                  <a:pt x="1160145" y="676060"/>
                  <a:pt x="1148361" y="687070"/>
                  <a:pt x="1133824" y="687070"/>
                </a:cubicBezTo>
                <a:cubicBezTo>
                  <a:pt x="1119288" y="687070"/>
                  <a:pt x="1107504" y="676060"/>
                  <a:pt x="1107504" y="662478"/>
                </a:cubicBezTo>
                <a:cubicBezTo>
                  <a:pt x="1107504" y="648896"/>
                  <a:pt x="1119288" y="637886"/>
                  <a:pt x="1133824" y="637886"/>
                </a:cubicBezTo>
                <a:cubicBezTo>
                  <a:pt x="1148353" y="637901"/>
                  <a:pt x="1160129" y="648903"/>
                  <a:pt x="1160145" y="662478"/>
                </a:cubicBezTo>
                <a:close/>
              </a:path>
            </a:pathLst>
          </a:custGeom>
          <a:solidFill>
            <a:srgbClr val="9595FF"/>
          </a:solidFill>
        </p:spPr>
      </p:sp>
      <p:sp>
        <p:nvSpPr>
          <p:cNvPr id="4" name="Text 1"/>
          <p:cNvSpPr/>
          <p:nvPr/>
        </p:nvSpPr>
        <p:spPr>
          <a:xfrm>
            <a:off x="595630" y="575945"/>
            <a:ext cx="11160125" cy="6438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运营商用户行为分析与用户分群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30-16:31:52-d3dpau0s8jdo4os5dgh0.png"/>
          <p:cNvPicPr>
            <a:picLocks noChangeAspect="1"/>
          </p:cNvPicPr>
          <p:nvPr/>
        </p:nvPicPr>
        <p:blipFill>
          <a:blip r:embed="rId4"/>
          <a:srcRect t="110" b="110"/>
          <a:stretch>
            <a:fillRect/>
          </a:stretch>
        </p:blipFill>
        <p:spPr>
          <a:xfrm>
            <a:off x="2540" y="550545"/>
            <a:ext cx="579755" cy="65214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30-16:32:11-d3dpb2os8jdo4os5dgq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"/>
          <a:srcRect l="-1403" t="-3454" r="-948" b="-772"/>
          <a:stretch>
            <a:fillRect/>
          </a:stretch>
        </p:blipFill>
        <p:spPr>
          <a:xfrm>
            <a:off x="6193790" y="1794510"/>
            <a:ext cx="4865370" cy="4262120"/>
          </a:xfrm>
          <a:prstGeom prst="rect">
            <a:avLst/>
          </a:prstGeom>
        </p:spPr>
      </p:pic>
      <p:sp>
        <p:nvSpPr>
          <p:cNvPr id="7" name="Text 2"/>
          <p:cNvSpPr/>
          <p:nvPr>
            <p:custDataLst>
              <p:tags r:id="rId6"/>
            </p:custDataLst>
          </p:nvPr>
        </p:nvSpPr>
        <p:spPr>
          <a:xfrm>
            <a:off x="1243965" y="2496820"/>
            <a:ext cx="4243070" cy="4597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项目主题</a:t>
            </a:r>
            <a:endParaRPr lang="en-US" sz="1600" dirty="0"/>
          </a:p>
        </p:txBody>
      </p:sp>
      <p:sp>
        <p:nvSpPr>
          <p:cNvPr id="8" name="Text 3"/>
          <p:cNvSpPr/>
          <p:nvPr>
            <p:custDataLst>
              <p:tags r:id="rId7"/>
            </p:custDataLst>
          </p:nvPr>
        </p:nvSpPr>
        <p:spPr>
          <a:xfrm>
            <a:off x="1306830" y="3172460"/>
            <a:ext cx="4072255" cy="15545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基于SQL、Python、SPSS与Power BI构建完整数据分析链路，聚焦运营商场景下的用户行为深度挖掘与价值识别，实现从原始数据到业务决策的闭环转化。</a:t>
            </a:r>
            <a:endParaRPr lang="en-US" sz="1600" dirty="0"/>
          </a:p>
        </p:txBody>
      </p:sp>
      <p:sp>
        <p:nvSpPr>
          <p:cNvPr id="9" name="Text 4"/>
          <p:cNvSpPr/>
          <p:nvPr>
            <p:custDataLst>
              <p:tags r:id="rId8"/>
            </p:custDataLst>
          </p:nvPr>
        </p:nvSpPr>
        <p:spPr>
          <a:xfrm>
            <a:off x="6480175" y="2496820"/>
            <a:ext cx="4243070" cy="4597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汇报信息</a:t>
            </a:r>
            <a:endParaRPr lang="en-US" sz="1600" dirty="0"/>
          </a:p>
        </p:txBody>
      </p:sp>
      <p:sp>
        <p:nvSpPr>
          <p:cNvPr id="10" name="Text 5"/>
          <p:cNvSpPr/>
          <p:nvPr>
            <p:custDataLst>
              <p:tags r:id="rId9"/>
            </p:custDataLst>
          </p:nvPr>
        </p:nvSpPr>
        <p:spPr>
          <a:xfrm>
            <a:off x="6543040" y="3172460"/>
            <a:ext cx="407225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汇报人：蒲俊霖 | 专业：数据科学与大数据技术 | 时间：2026年4月。本项目融合多技术栈，致力于以数据驱动运营策略优化与精准用户触达。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1240" y="1827530"/>
            <a:ext cx="19050" cy="4343400"/>
          </a:xfrm>
          <a:prstGeom prst="line">
            <a:avLst/>
          </a:prstGeom>
          <a:noFill/>
          <a:ln w="12700">
            <a:solidFill>
              <a:srgbClr val="404040"/>
            </a:solidFill>
            <a:prstDash val="dash"/>
            <a:headEnd type="none"/>
            <a:tailEnd type="none"/>
          </a:ln>
        </p:spPr>
      </p:sp>
      <p:pic>
        <p:nvPicPr>
          <p:cNvPr id="3" name="Image 0" descr="https://kimi-img.moonshot.cn/pub/slides/slides_tmpl/image/25-09-30-16:32:11-d3dpb2os8jdo4os5dgq0.jpeg"/>
          <p:cNvPicPr>
            <a:picLocks noChangeAspect="1"/>
          </p:cNvPicPr>
          <p:nvPr/>
        </p:nvPicPr>
        <p:blipFill>
          <a:blip r:embed="rId2"/>
          <a:srcRect l="29764" r="29764"/>
          <a:stretch>
            <a:fillRect/>
          </a:stretch>
        </p:blipFill>
        <p:spPr>
          <a:xfrm>
            <a:off x="7637145" y="0"/>
            <a:ext cx="455485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7890" y="1560830"/>
            <a:ext cx="266700" cy="266700"/>
          </a:xfrm>
          <a:prstGeom prst="ellipse">
            <a:avLst/>
          </a:prstGeom>
          <a:solidFill>
            <a:srgbClr val="1199FB"/>
          </a:solidFill>
        </p:spPr>
      </p:sp>
      <p:sp>
        <p:nvSpPr>
          <p:cNvPr id="5" name="Shape 2"/>
          <p:cNvSpPr/>
          <p:nvPr/>
        </p:nvSpPr>
        <p:spPr>
          <a:xfrm>
            <a:off x="897890" y="3202305"/>
            <a:ext cx="266700" cy="266700"/>
          </a:xfrm>
          <a:prstGeom prst="ellipse">
            <a:avLst/>
          </a:prstGeom>
          <a:solidFill>
            <a:srgbClr val="1199FB"/>
          </a:solidFill>
        </p:spPr>
      </p:sp>
      <p:sp>
        <p:nvSpPr>
          <p:cNvPr id="6" name="Shape 3"/>
          <p:cNvSpPr/>
          <p:nvPr/>
        </p:nvSpPr>
        <p:spPr>
          <a:xfrm>
            <a:off x="897890" y="4843780"/>
            <a:ext cx="266700" cy="266700"/>
          </a:xfrm>
          <a:prstGeom prst="ellipse">
            <a:avLst/>
          </a:prstGeom>
          <a:solidFill>
            <a:srgbClr val="1199FB"/>
          </a:solidFill>
        </p:spPr>
      </p:sp>
      <p:sp>
        <p:nvSpPr>
          <p:cNvPr id="7" name="Text 4"/>
          <p:cNvSpPr/>
          <p:nvPr/>
        </p:nvSpPr>
        <p:spPr>
          <a:xfrm>
            <a:off x="595630" y="575945"/>
            <a:ext cx="11160125" cy="6438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项目概览与核心定位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9-30-16:31:52-d3dpau0s8jdo4os5dgh0.png"/>
          <p:cNvPicPr>
            <a:picLocks noChangeAspect="1"/>
          </p:cNvPicPr>
          <p:nvPr/>
        </p:nvPicPr>
        <p:blipFill>
          <a:blip r:embed="rId3"/>
          <a:srcRect t="110" b="110"/>
          <a:stretch>
            <a:fillRect/>
          </a:stretch>
        </p:blipFill>
        <p:spPr>
          <a:xfrm>
            <a:off x="2540" y="550545"/>
            <a:ext cx="579755" cy="6521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6670" y="1524635"/>
            <a:ext cx="5775960" cy="375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分析场景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296670" y="1859915"/>
            <a:ext cx="5775960" cy="6631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模拟运营商用户行为分析场景，基于电商平台真实用户行为数据，深入挖掘用户活跃规律与价值特征，为精细化运营提供数据支撑。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96670" y="3166110"/>
            <a:ext cx="5775960" cy="375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296670" y="3501390"/>
            <a:ext cx="5775960" cy="6631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构建用户价值分层体系，精准识别高价值用户，发现活跃规律，输出可落地的差异化运营策略，驱动业务增长。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296670" y="4807585"/>
            <a:ext cx="5775960" cy="375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数据来源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296670" y="5142865"/>
            <a:ext cx="5775960" cy="6631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采用天池淘宝用户行为数据集，原始记录达12,256,906条，为分析提供真实、海量且多维度的数据基础。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d0.png"/>
          <p:cNvPicPr>
            <a:picLocks noChangeAspect="1"/>
          </p:cNvPicPr>
          <p:nvPr/>
        </p:nvPicPr>
        <p:blipFill>
          <a:blip r:embed="rId2"/>
          <a:srcRect t="38412" b="38412"/>
          <a:stretch>
            <a:fillRect/>
          </a:stretch>
        </p:blipFill>
        <p:spPr>
          <a:xfrm>
            <a:off x="675640" y="5656580"/>
            <a:ext cx="11000740" cy="78613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30-16:31:52-d3dpau0s8jdo4os5dgd0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rcRect t="38412" b="38412"/>
          <a:stretch>
            <a:fillRect/>
          </a:stretch>
        </p:blipFill>
        <p:spPr>
          <a:xfrm>
            <a:off x="675640" y="4354830"/>
            <a:ext cx="11000740" cy="78613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30-16:31:52-d3dpau0s8jdo4os5dgd0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/>
          <a:srcRect t="38412" b="38412"/>
          <a:stretch>
            <a:fillRect/>
          </a:stretch>
        </p:blipFill>
        <p:spPr>
          <a:xfrm>
            <a:off x="675640" y="3104515"/>
            <a:ext cx="11000740" cy="78613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30-16:31:52-d3dpau0s8jdo4os5dgd0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"/>
          <a:srcRect t="38412" b="38412"/>
          <a:stretch>
            <a:fillRect/>
          </a:stretch>
        </p:blipFill>
        <p:spPr>
          <a:xfrm>
            <a:off x="675640" y="1804670"/>
            <a:ext cx="11000740" cy="78613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95630" y="575945"/>
            <a:ext cx="8434705" cy="6438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项目背景与目标定位</a:t>
            </a:r>
            <a:endParaRPr lang="en-US" sz="1600" dirty="0"/>
          </a:p>
        </p:txBody>
      </p:sp>
      <p:pic>
        <p:nvPicPr>
          <p:cNvPr id="7" name="Image 4" descr="https://kimi-img.moonshot.cn/pub/slides/slides_tmpl/image/25-09-30-16:31:52-d3dpau0s8jdo4os5dgh0.png"/>
          <p:cNvPicPr>
            <a:picLocks noChangeAspect="1"/>
          </p:cNvPicPr>
          <p:nvPr/>
        </p:nvPicPr>
        <p:blipFill>
          <a:blip r:embed="rId6"/>
          <a:srcRect t="110" b="110"/>
          <a:stretch>
            <a:fillRect/>
          </a:stretch>
        </p:blipFill>
        <p:spPr>
          <a:xfrm>
            <a:off x="15875" y="550545"/>
            <a:ext cx="579755" cy="652145"/>
          </a:xfrm>
          <a:prstGeom prst="rect">
            <a:avLst/>
          </a:prstGeom>
        </p:spPr>
      </p:pic>
      <p:sp>
        <p:nvSpPr>
          <p:cNvPr id="8" name="Text 1"/>
          <p:cNvSpPr/>
          <p:nvPr>
            <p:custDataLst>
              <p:tags r:id="rId7"/>
            </p:custDataLst>
          </p:nvPr>
        </p:nvSpPr>
        <p:spPr>
          <a:xfrm>
            <a:off x="743585" y="1450975"/>
            <a:ext cx="3221990" cy="375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1199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项目背景</a:t>
            </a:r>
            <a:endParaRPr lang="en-US" sz="1600" dirty="0"/>
          </a:p>
        </p:txBody>
      </p:sp>
      <p:sp>
        <p:nvSpPr>
          <p:cNvPr id="9" name="Text 2"/>
          <p:cNvSpPr/>
          <p:nvPr>
            <p:custDataLst>
              <p:tags r:id="rId8"/>
            </p:custDataLst>
          </p:nvPr>
        </p:nvSpPr>
        <p:spPr>
          <a:xfrm>
            <a:off x="843280" y="1886585"/>
            <a:ext cx="10203180" cy="3744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3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运营商积累海量用户行为数据，识别高价值用户、洞察活跃规律、制定差异化策略是数据驱动运营的核心课题。</a:t>
            </a:r>
            <a:endParaRPr lang="en-US" sz="1600" dirty="0"/>
          </a:p>
        </p:txBody>
      </p:sp>
      <p:sp>
        <p:nvSpPr>
          <p:cNvPr id="10" name="Text 3"/>
          <p:cNvSpPr/>
          <p:nvPr>
            <p:custDataLst>
              <p:tags r:id="rId9"/>
            </p:custDataLst>
          </p:nvPr>
        </p:nvSpPr>
        <p:spPr>
          <a:xfrm>
            <a:off x="743585" y="2749550"/>
            <a:ext cx="3221990" cy="375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199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构建用户分层</a:t>
            </a:r>
            <a:endParaRPr lang="en-US" sz="1600" dirty="0"/>
          </a:p>
        </p:txBody>
      </p:sp>
      <p:sp>
        <p:nvSpPr>
          <p:cNvPr id="11" name="Text 4"/>
          <p:cNvSpPr/>
          <p:nvPr>
            <p:custDataLst>
              <p:tags r:id="rId10"/>
            </p:custDataLst>
          </p:nvPr>
        </p:nvSpPr>
        <p:spPr>
          <a:xfrm>
            <a:off x="894080" y="3169285"/>
            <a:ext cx="10203180" cy="3744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3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基于活跃天数将用户分为高、中、低三个价值等级，量化用户价值差异，建立清晰的分层标准。</a:t>
            </a:r>
            <a:endParaRPr lang="en-US" sz="1600" dirty="0"/>
          </a:p>
        </p:txBody>
      </p:sp>
      <p:sp>
        <p:nvSpPr>
          <p:cNvPr id="12" name="Text 5"/>
          <p:cNvSpPr/>
          <p:nvPr>
            <p:custDataLst>
              <p:tags r:id="rId11"/>
            </p:custDataLst>
          </p:nvPr>
        </p:nvSpPr>
        <p:spPr>
          <a:xfrm>
            <a:off x="743585" y="3999865"/>
            <a:ext cx="3221990" cy="375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1199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统计显著性验证</a:t>
            </a:r>
            <a:endParaRPr lang="en-US" sz="1600" dirty="0"/>
          </a:p>
        </p:txBody>
      </p:sp>
      <p:sp>
        <p:nvSpPr>
          <p:cNvPr id="13" name="Text 6"/>
          <p:cNvSpPr/>
          <p:nvPr>
            <p:custDataLst>
              <p:tags r:id="rId12"/>
            </p:custDataLst>
          </p:nvPr>
        </p:nvSpPr>
        <p:spPr>
          <a:xfrm>
            <a:off x="843280" y="4451985"/>
            <a:ext cx="10203180" cy="3744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3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使用SPSS ANOVA检验确认分层有效性，F=11,229.94，p&lt;0.001，证明分层具有统计学意义。</a:t>
            </a:r>
            <a:endParaRPr lang="en-US" sz="1600" dirty="0"/>
          </a:p>
        </p:txBody>
      </p:sp>
      <p:sp>
        <p:nvSpPr>
          <p:cNvPr id="14" name="Text 7"/>
          <p:cNvSpPr/>
          <p:nvPr>
            <p:custDataLst>
              <p:tags r:id="rId13"/>
            </p:custDataLst>
          </p:nvPr>
        </p:nvSpPr>
        <p:spPr>
          <a:xfrm>
            <a:off x="743585" y="5295265"/>
            <a:ext cx="3221990" cy="375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1199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输出运营策略</a:t>
            </a:r>
            <a:endParaRPr lang="en-US" sz="1600" dirty="0"/>
          </a:p>
        </p:txBody>
      </p:sp>
      <p:sp>
        <p:nvSpPr>
          <p:cNvPr id="15" name="Text 8"/>
          <p:cNvSpPr/>
          <p:nvPr>
            <p:custDataLst>
              <p:tags r:id="rId14"/>
            </p:custDataLst>
          </p:nvPr>
        </p:nvSpPr>
        <p:spPr>
          <a:xfrm>
            <a:off x="894080" y="5734685"/>
            <a:ext cx="10203180" cy="3744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3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针对不同等级用户提出差异化运营建议，实现精细化运营闭环，提升整体用户价值与留存率。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d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38804" r="38804"/>
          <a:stretch>
            <a:fillRect/>
          </a:stretch>
        </p:blipFill>
        <p:spPr>
          <a:xfrm>
            <a:off x="8196580" y="1719580"/>
            <a:ext cx="3224530" cy="443801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30-16:31:52-d3dpau0s8jdo4os5dgd0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38804" r="38804"/>
          <a:stretch>
            <a:fillRect/>
          </a:stretch>
        </p:blipFill>
        <p:spPr>
          <a:xfrm>
            <a:off x="4498340" y="1719580"/>
            <a:ext cx="3224530" cy="443801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30-16:31:52-d3dpau0s8jdo4os5dgd0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"/>
          <a:srcRect l="38804" r="38804"/>
          <a:stretch>
            <a:fillRect/>
          </a:stretch>
        </p:blipFill>
        <p:spPr>
          <a:xfrm>
            <a:off x="847090" y="1719580"/>
            <a:ext cx="3224530" cy="443801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9987895" y="4526280"/>
            <a:ext cx="4064000" cy="2660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595630" y="575945"/>
            <a:ext cx="8434705" cy="6438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数据规模与技术栈</a:t>
            </a:r>
            <a:endParaRPr lang="en-US" sz="1600" dirty="0"/>
          </a:p>
        </p:txBody>
      </p:sp>
      <p:pic>
        <p:nvPicPr>
          <p:cNvPr id="7" name="Image 3" descr="https://kimi-img.moonshot.cn/pub/slides/slides_tmpl/image/25-09-30-16:31:52-d3dpau0s8jdo4os5dgh0.png"/>
          <p:cNvPicPr>
            <a:picLocks noChangeAspect="1"/>
          </p:cNvPicPr>
          <p:nvPr/>
        </p:nvPicPr>
        <p:blipFill>
          <a:blip r:embed="rId6"/>
          <a:srcRect t="110" b="110"/>
          <a:stretch>
            <a:fillRect/>
          </a:stretch>
        </p:blipFill>
        <p:spPr>
          <a:xfrm>
            <a:off x="2540" y="550545"/>
            <a:ext cx="579755" cy="652145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30-16:31:52-d3dpau0s8jdo4os5dgf0.png"/>
          <p:cNvPicPr>
            <a:picLocks noChangeAspect="1"/>
          </p:cNvPicPr>
          <p:nvPr/>
        </p:nvPicPr>
        <p:blipFill>
          <a:blip r:embed="rId7"/>
          <a:srcRect t="3182" b="3182"/>
          <a:stretch>
            <a:fillRect/>
          </a:stretch>
        </p:blipFill>
        <p:spPr>
          <a:xfrm rot="3660000">
            <a:off x="10095865" y="591820"/>
            <a:ext cx="1384935" cy="1261745"/>
          </a:xfrm>
          <a:prstGeom prst="rect">
            <a:avLst/>
          </a:prstGeom>
        </p:spPr>
      </p:pic>
      <p:sp>
        <p:nvSpPr>
          <p:cNvPr id="9" name="Text 2"/>
          <p:cNvSpPr/>
          <p:nvPr>
            <p:custDataLst>
              <p:tags r:id="rId8"/>
            </p:custDataLst>
          </p:nvPr>
        </p:nvSpPr>
        <p:spPr>
          <a:xfrm>
            <a:off x="1207135" y="2134235"/>
            <a:ext cx="263144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数据规模</a:t>
            </a:r>
            <a:endParaRPr lang="en-US" sz="1600" dirty="0"/>
          </a:p>
        </p:txBody>
      </p:sp>
      <p:sp>
        <p:nvSpPr>
          <p:cNvPr id="10" name="Text 3"/>
          <p:cNvSpPr/>
          <p:nvPr>
            <p:custDataLst>
              <p:tags r:id="rId9"/>
            </p:custDataLst>
          </p:nvPr>
        </p:nvSpPr>
        <p:spPr>
          <a:xfrm>
            <a:off x="1207135" y="2945765"/>
            <a:ext cx="2631440" cy="16914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原始数据12,256,906条，去重后8,164,040条，采用1%随机抽样得81,640条分析样本，时间跨度2014年11月18日至12月18日。</a:t>
            </a:r>
            <a:endParaRPr lang="en-US" sz="1600" dirty="0"/>
          </a:p>
        </p:txBody>
      </p:sp>
      <p:sp>
        <p:nvSpPr>
          <p:cNvPr id="11" name="Text 4"/>
          <p:cNvSpPr/>
          <p:nvPr>
            <p:custDataLst>
              <p:tags r:id="rId10"/>
            </p:custDataLst>
          </p:nvPr>
        </p:nvSpPr>
        <p:spPr>
          <a:xfrm>
            <a:off x="4896485" y="2134235"/>
            <a:ext cx="263144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技术工具</a:t>
            </a:r>
            <a:endParaRPr lang="en-US" sz="1600" dirty="0"/>
          </a:p>
        </p:txBody>
      </p:sp>
      <p:sp>
        <p:nvSpPr>
          <p:cNvPr id="12" name="Text 5"/>
          <p:cNvSpPr/>
          <p:nvPr>
            <p:custDataLst>
              <p:tags r:id="rId11"/>
            </p:custDataLst>
          </p:nvPr>
        </p:nvSpPr>
        <p:spPr>
          <a:xfrm>
            <a:off x="4896485" y="2945765"/>
            <a:ext cx="2631440" cy="13713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Python(Pandas)负责数据清洗与指标计算，SPSS执行频数统计与ANOVA检验，Power BI搭建交互式可视化看板。</a:t>
            </a:r>
            <a:endParaRPr lang="en-US" sz="1600" dirty="0"/>
          </a:p>
        </p:txBody>
      </p:sp>
      <p:sp>
        <p:nvSpPr>
          <p:cNvPr id="13" name="Text 6"/>
          <p:cNvSpPr/>
          <p:nvPr>
            <p:custDataLst>
              <p:tags r:id="rId12"/>
            </p:custDataLst>
          </p:nvPr>
        </p:nvSpPr>
        <p:spPr>
          <a:xfrm>
            <a:off x="8585835" y="2134235"/>
            <a:ext cx="263144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技术闭环</a:t>
            </a:r>
            <a:endParaRPr lang="en-US" sz="1600" dirty="0"/>
          </a:p>
        </p:txBody>
      </p:sp>
      <p:sp>
        <p:nvSpPr>
          <p:cNvPr id="14" name="Text 7"/>
          <p:cNvSpPr/>
          <p:nvPr>
            <p:custDataLst>
              <p:tags r:id="rId13"/>
            </p:custDataLst>
          </p:nvPr>
        </p:nvSpPr>
        <p:spPr>
          <a:xfrm>
            <a:off x="8585835" y="2945765"/>
            <a:ext cx="2631440" cy="13713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形成“数据清洗→指标计算→统计验证→可视化呈现”的完整技术链路，确保分析科学严谨、结果可信可用。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1-d3dpatos8jdo4os5dgc0.jpg"/>
          <p:cNvPicPr>
            <a:picLocks noChangeAspect="1"/>
          </p:cNvPicPr>
          <p:nvPr/>
        </p:nvPicPr>
        <p:blipFill>
          <a:blip r:embed="rId2"/>
          <a:srcRect t="81" b="81"/>
          <a:stretch>
            <a:fillRect/>
          </a:stretch>
        </p:blipFill>
        <p:spPr>
          <a:xfrm rot="21600000">
            <a:off x="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17533" y="3429000"/>
            <a:ext cx="5956935" cy="828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1199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分析成果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117533" y="1860550"/>
            <a:ext cx="5956935" cy="15729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1199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30-16:31:52-d3dpau0s8jdo4os5dg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465" y="1539875"/>
            <a:ext cx="2349500" cy="273304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30-16:31:52-d3dpau0s8jdo4os5dgf0.png"/>
          <p:cNvPicPr>
            <a:picLocks noChangeAspect="1"/>
          </p:cNvPicPr>
          <p:nvPr/>
        </p:nvPicPr>
        <p:blipFill>
          <a:blip r:embed="rId4"/>
          <a:srcRect t="3182" b="3182"/>
          <a:stretch>
            <a:fillRect/>
          </a:stretch>
        </p:blipFill>
        <p:spPr>
          <a:xfrm rot="3660000">
            <a:off x="9880600" y="4845050"/>
            <a:ext cx="1117600" cy="101790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724515" y="549275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</p:spPr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>
            <p:custDataLst>
              <p:tags r:id="rId2"/>
            </p:custDataLst>
          </p:nvPr>
        </p:nvSpPr>
        <p:spPr>
          <a:xfrm>
            <a:off x="260985" y="3806825"/>
            <a:ext cx="34036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  <a:headEnd type="none"/>
            <a:tailEnd type="none"/>
          </a:ln>
        </p:spPr>
      </p:sp>
      <p:sp>
        <p:nvSpPr>
          <p:cNvPr id="4" name="Shape 2"/>
          <p:cNvSpPr/>
          <p:nvPr>
            <p:custDataLst>
              <p:tags r:id="rId3"/>
            </p:custDataLst>
          </p:nvPr>
        </p:nvSpPr>
        <p:spPr>
          <a:xfrm>
            <a:off x="8434705" y="1294765"/>
            <a:ext cx="3754755" cy="5085715"/>
          </a:xfrm>
          <a:prstGeom prst="rect">
            <a:avLst/>
          </a:prstGeom>
          <a:solidFill>
            <a:srgbClr val="00B0F0">
              <a:alpha val="87000"/>
            </a:srgbClr>
          </a:solidFill>
        </p:spPr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8525510" y="3806825"/>
            <a:ext cx="34036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595630" y="575945"/>
            <a:ext cx="8434705" cy="6438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用户价值分层结果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9-30-16:31:52-d3dpau0s8jdo4os5dgh0.png"/>
          <p:cNvPicPr>
            <a:picLocks noChangeAspect="1"/>
          </p:cNvPicPr>
          <p:nvPr/>
        </p:nvPicPr>
        <p:blipFill>
          <a:blip r:embed="rId5"/>
          <a:srcRect t="110" b="110"/>
          <a:stretch>
            <a:fillRect/>
          </a:stretch>
        </p:blipFill>
        <p:spPr>
          <a:xfrm>
            <a:off x="15875" y="550545"/>
            <a:ext cx="579755" cy="652145"/>
          </a:xfrm>
          <a:prstGeom prst="rect">
            <a:avLst/>
          </a:prstGeom>
        </p:spPr>
      </p:pic>
      <p:grpSp>
        <p:nvGrpSpPr>
          <p:cNvPr id="20" name="组合 19"/>
          <p:cNvGrpSpPr/>
          <p:nvPr>
            <p:custDataLst>
              <p:tags r:id="rId6"/>
            </p:custDataLst>
          </p:nvPr>
        </p:nvGrpSpPr>
        <p:grpSpPr>
          <a:xfrm>
            <a:off x="0" y="1294765"/>
            <a:ext cx="3522345" cy="5085715"/>
            <a:chOff x="0" y="2039"/>
            <a:chExt cx="6181" cy="8009"/>
          </a:xfrm>
        </p:grpSpPr>
        <p:grpSp>
          <p:nvGrpSpPr>
            <p:cNvPr id="18" name="组合 17"/>
            <p:cNvGrpSpPr/>
            <p:nvPr>
              <p:custDataLst>
                <p:tags r:id="rId7"/>
              </p:custDataLst>
            </p:nvPr>
          </p:nvGrpSpPr>
          <p:grpSpPr>
            <a:xfrm>
              <a:off x="0" y="2039"/>
              <a:ext cx="6181" cy="8009"/>
              <a:chOff x="0" y="2039"/>
              <a:chExt cx="6181" cy="8009"/>
            </a:xfrm>
          </p:grpSpPr>
          <p:sp>
            <p:nvSpPr>
              <p:cNvPr id="2" name="Shape 0"/>
              <p:cNvSpPr/>
              <p:nvPr>
                <p:custDataLst>
                  <p:tags r:id="rId8"/>
                </p:custDataLst>
              </p:nvPr>
            </p:nvSpPr>
            <p:spPr>
              <a:xfrm>
                <a:off x="0" y="2039"/>
                <a:ext cx="6181" cy="8009"/>
              </a:xfrm>
              <a:prstGeom prst="rect">
                <a:avLst/>
              </a:prstGeom>
              <a:solidFill>
                <a:srgbClr val="00B0F0">
                  <a:alpha val="88000"/>
                </a:srgbClr>
              </a:solidFill>
            </p:spPr>
          </p:sp>
          <p:grpSp>
            <p:nvGrpSpPr>
              <p:cNvPr id="17" name="组合 16"/>
              <p:cNvGrpSpPr/>
              <p:nvPr>
                <p:custDataLst>
                  <p:tags r:id="rId9"/>
                </p:custDataLst>
              </p:nvPr>
            </p:nvGrpSpPr>
            <p:grpSpPr>
              <a:xfrm>
                <a:off x="411" y="2472"/>
                <a:ext cx="5545" cy="2040"/>
                <a:chOff x="411" y="2472"/>
                <a:chExt cx="5545" cy="2040"/>
              </a:xfrm>
            </p:grpSpPr>
            <p:sp>
              <p:nvSpPr>
                <p:cNvPr id="9" name="Text 5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411" y="2472"/>
                  <a:ext cx="5360" cy="580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t">
                  <a:spAutoFit/>
                </a:bodyPr>
                <a:lstStyle/>
                <a:p>
                  <a:pPr algn="just">
                    <a:lnSpc>
                      <a:spcPct val="100000"/>
                    </a:lnSpc>
                  </a:pPr>
                  <a:r>
                    <a:rPr lang="en-US" sz="1800" b="1" dirty="0">
                      <a:solidFill>
                        <a:srgbClr val="FFFFFF"/>
                      </a:solidFill>
                      <a:latin typeface="MiSans" pitchFamily="34" charset="-122"/>
                      <a:ea typeface="MiSans" pitchFamily="34" charset="-122"/>
                      <a:cs typeface="MiSans" pitchFamily="34" charset="-120"/>
                    </a:rPr>
                    <a:t>等级占比分布</a:t>
                  </a:r>
                  <a:endParaRPr lang="en-US" sz="1600" dirty="0"/>
                </a:p>
              </p:txBody>
            </p:sp>
            <p:sp>
              <p:nvSpPr>
                <p:cNvPr id="10" name="Text 6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411" y="3060"/>
                  <a:ext cx="5545" cy="1452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t">
                  <a:spAutoFit/>
                </a:bodyPr>
                <a:lstStyle/>
                <a:p>
                  <a:pPr algn="just">
                    <a:lnSpc>
                      <a:spcPct val="150000"/>
                    </a:lnSpc>
                  </a:pPr>
                  <a:r>
                    <a:rPr lang="en-US" sz="1200" b="1" dirty="0">
                      <a:solidFill>
                        <a:srgbClr val="FFFFFF"/>
                      </a:solidFill>
                      <a:latin typeface="MiSans" pitchFamily="34" charset="-122"/>
                      <a:ea typeface="MiSans" pitchFamily="34" charset="-122"/>
                      <a:cs typeface="MiSans" pitchFamily="34" charset="-120"/>
                    </a:rPr>
                    <a:t>高价值用户3,034人占34.4%，中价值用户3,271人占37.1%，低价值用户2,508人占28.5%，结构呈橄榄型分布。</a:t>
                  </a:r>
                  <a:endParaRPr lang="en-US" sz="1600" dirty="0"/>
                </a:p>
              </p:txBody>
            </p:sp>
          </p:grpSp>
        </p:grpSp>
        <p:grpSp>
          <p:nvGrpSpPr>
            <p:cNvPr id="19" name="组合 18"/>
            <p:cNvGrpSpPr/>
            <p:nvPr>
              <p:custDataLst>
                <p:tags r:id="rId12"/>
              </p:custDataLst>
            </p:nvPr>
          </p:nvGrpSpPr>
          <p:grpSpPr>
            <a:xfrm>
              <a:off x="411" y="6242"/>
              <a:ext cx="5546" cy="2040"/>
              <a:chOff x="411" y="6242"/>
              <a:chExt cx="5546" cy="2040"/>
            </a:xfrm>
          </p:grpSpPr>
          <p:sp>
            <p:nvSpPr>
              <p:cNvPr id="11" name="Text 7"/>
              <p:cNvSpPr/>
              <p:nvPr>
                <p:custDataLst>
                  <p:tags r:id="rId13"/>
                </p:custDataLst>
              </p:nvPr>
            </p:nvSpPr>
            <p:spPr>
              <a:xfrm>
                <a:off x="411" y="6242"/>
                <a:ext cx="5360" cy="58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sz="1800" b="1" dirty="0">
                    <a:solidFill>
                      <a:srgbClr val="FFFFFF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平均活跃天数</a:t>
                </a:r>
                <a:endParaRPr lang="en-US" sz="1600" dirty="0"/>
              </a:p>
            </p:txBody>
          </p:sp>
          <p:sp>
            <p:nvSpPr>
              <p:cNvPr id="12" name="Text 8"/>
              <p:cNvSpPr/>
              <p:nvPr>
                <p:custDataLst>
                  <p:tags r:id="rId14"/>
                </p:custDataLst>
              </p:nvPr>
            </p:nvSpPr>
            <p:spPr>
              <a:xfrm>
                <a:off x="411" y="6830"/>
                <a:ext cx="5546" cy="145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1200" b="1" dirty="0">
                    <a:solidFill>
                      <a:srgbClr val="FFFFFF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高价值用户平均活跃10天，中价值用户5天，低价值用户不足2天，三组差异显著，分层区隔清晰。</a:t>
                </a:r>
                <a:endParaRPr lang="en-US" sz="1600" dirty="0"/>
              </a:p>
            </p:txBody>
          </p:sp>
        </p:grpSp>
      </p:grpSp>
      <p:sp>
        <p:nvSpPr>
          <p:cNvPr id="13" name="Text 9"/>
          <p:cNvSpPr/>
          <p:nvPr>
            <p:custDataLst>
              <p:tags r:id="rId15"/>
            </p:custDataLst>
          </p:nvPr>
        </p:nvSpPr>
        <p:spPr>
          <a:xfrm>
            <a:off x="8422640" y="1574800"/>
            <a:ext cx="3403600" cy="375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核心潜力群体</a:t>
            </a:r>
            <a:endParaRPr lang="en-US" sz="1600" dirty="0"/>
          </a:p>
        </p:txBody>
      </p:sp>
      <p:sp>
        <p:nvSpPr>
          <p:cNvPr id="14" name="Text 10"/>
          <p:cNvSpPr/>
          <p:nvPr>
            <p:custDataLst>
              <p:tags r:id="rId16"/>
            </p:custDataLst>
          </p:nvPr>
        </p:nvSpPr>
        <p:spPr>
          <a:xfrm>
            <a:off x="8406765" y="1943100"/>
            <a:ext cx="3572510" cy="6740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中价值用户规模最大达37.1%，是向上转化的关键潜力群体，运营资源倾斜可带来显著价值提升。</a:t>
            </a:r>
            <a:endParaRPr lang="en-US" sz="1600" dirty="0"/>
          </a:p>
        </p:txBody>
      </p:sp>
      <p:sp>
        <p:nvSpPr>
          <p:cNvPr id="15" name="Text 11"/>
          <p:cNvSpPr/>
          <p:nvPr>
            <p:custDataLst>
              <p:tags r:id="rId17"/>
            </p:custDataLst>
          </p:nvPr>
        </p:nvSpPr>
        <p:spPr>
          <a:xfrm>
            <a:off x="8411210" y="3963670"/>
            <a:ext cx="3403600" cy="375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分层有效性</a:t>
            </a:r>
            <a:endParaRPr lang="en-US" sz="1600" dirty="0"/>
          </a:p>
        </p:txBody>
      </p:sp>
      <p:sp>
        <p:nvSpPr>
          <p:cNvPr id="16" name="Text 12"/>
          <p:cNvSpPr/>
          <p:nvPr>
            <p:custDataLst>
              <p:tags r:id="rId18"/>
            </p:custDataLst>
          </p:nvPr>
        </p:nvSpPr>
        <p:spPr>
          <a:xfrm>
            <a:off x="8411210" y="4337050"/>
            <a:ext cx="3571875" cy="6740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活跃天数作为核心分层指标，直观反映用户参与度与价值贡献，为后续精准运营奠定坚实基础。</a:t>
            </a:r>
            <a:endParaRPr lang="en-US" sz="16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47110" y="1294765"/>
            <a:ext cx="4880610" cy="248412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22345" y="3810635"/>
            <a:ext cx="4898390" cy="26168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6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/>
          <p:cNvSpPr/>
          <p:nvPr>
            <p:custDataLst>
              <p:tags r:id="rId2"/>
            </p:custDataLst>
          </p:nvPr>
        </p:nvSpPr>
        <p:spPr>
          <a:xfrm>
            <a:off x="4390390" y="3907155"/>
            <a:ext cx="3524250" cy="2437765"/>
          </a:xfrm>
          <a:prstGeom prst="rect">
            <a:avLst/>
          </a:prstGeom>
          <a:solidFill>
            <a:srgbClr val="1199FB"/>
          </a:solidFill>
        </p:spPr>
      </p:sp>
      <p:sp>
        <p:nvSpPr>
          <p:cNvPr id="8" name="Text 3"/>
          <p:cNvSpPr/>
          <p:nvPr/>
        </p:nvSpPr>
        <p:spPr>
          <a:xfrm>
            <a:off x="595630" y="575945"/>
            <a:ext cx="11160125" cy="6438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SPSS统计显著性验证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30-16:31:52-d3dpau0s8jdo4os5dgh0.png"/>
          <p:cNvPicPr>
            <a:picLocks noChangeAspect="1"/>
          </p:cNvPicPr>
          <p:nvPr/>
        </p:nvPicPr>
        <p:blipFill>
          <a:blip r:embed="rId3"/>
          <a:srcRect t="110" b="110"/>
          <a:stretch>
            <a:fillRect/>
          </a:stretch>
        </p:blipFill>
        <p:spPr>
          <a:xfrm>
            <a:off x="2540" y="550545"/>
            <a:ext cx="579755" cy="652145"/>
          </a:xfrm>
          <a:prstGeom prst="rect">
            <a:avLst/>
          </a:prstGeom>
        </p:spPr>
      </p:pic>
      <p:grpSp>
        <p:nvGrpSpPr>
          <p:cNvPr id="19" name="组合 18"/>
          <p:cNvGrpSpPr/>
          <p:nvPr>
            <p:custDataLst>
              <p:tags r:id="rId4"/>
            </p:custDataLst>
          </p:nvPr>
        </p:nvGrpSpPr>
        <p:grpSpPr>
          <a:xfrm>
            <a:off x="593725" y="3907155"/>
            <a:ext cx="3524250" cy="2437765"/>
            <a:chOff x="1174" y="2323"/>
            <a:chExt cx="5550" cy="3839"/>
          </a:xfrm>
        </p:grpSpPr>
        <p:grpSp>
          <p:nvGrpSpPr>
            <p:cNvPr id="18" name="组合 17"/>
            <p:cNvGrpSpPr/>
            <p:nvPr>
              <p:custDataLst>
                <p:tags r:id="rId5"/>
              </p:custDataLst>
            </p:nvPr>
          </p:nvGrpSpPr>
          <p:grpSpPr>
            <a:xfrm>
              <a:off x="1174" y="2323"/>
              <a:ext cx="5550" cy="3839"/>
              <a:chOff x="1174" y="2323"/>
              <a:chExt cx="5550" cy="3839"/>
            </a:xfrm>
          </p:grpSpPr>
          <p:sp>
            <p:nvSpPr>
              <p:cNvPr id="2" name="Shape 0"/>
              <p:cNvSpPr/>
              <p:nvPr>
                <p:custDataLst>
                  <p:tags r:id="rId6"/>
                </p:custDataLst>
              </p:nvPr>
            </p:nvSpPr>
            <p:spPr>
              <a:xfrm>
                <a:off x="1174" y="2323"/>
                <a:ext cx="5550" cy="3839"/>
              </a:xfrm>
              <a:prstGeom prst="rect">
                <a:avLst/>
              </a:prstGeom>
              <a:solidFill>
                <a:srgbClr val="1199FB"/>
              </a:solidFill>
            </p:spPr>
          </p:sp>
          <p:sp>
            <p:nvSpPr>
              <p:cNvPr id="10" name="Text 4"/>
              <p:cNvSpPr/>
              <p:nvPr>
                <p:custDataLst>
                  <p:tags r:id="rId7"/>
                </p:custDataLst>
              </p:nvPr>
            </p:nvSpPr>
            <p:spPr>
              <a:xfrm>
                <a:off x="1535" y="2524"/>
                <a:ext cx="5070" cy="58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sz="1800" b="1" dirty="0">
                    <a:solidFill>
                      <a:srgbClr val="FFFFFF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F值解读</a:t>
                </a:r>
                <a:endParaRPr lang="en-US" sz="1600" dirty="0"/>
              </a:p>
            </p:txBody>
          </p:sp>
        </p:grpSp>
        <p:sp>
          <p:nvSpPr>
            <p:cNvPr id="11" name="Text 5"/>
            <p:cNvSpPr/>
            <p:nvPr>
              <p:custDataLst>
                <p:tags r:id="rId8"/>
              </p:custDataLst>
            </p:nvPr>
          </p:nvSpPr>
          <p:spPr>
            <a:xfrm>
              <a:off x="1535" y="3082"/>
              <a:ext cx="4946" cy="277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/>
            <a:lstStyle/>
            <a:p>
              <a:pPr algn="just">
                <a:lnSpc>
                  <a:spcPct val="150000"/>
                </a:lnSpc>
              </a:pPr>
              <a:r>
                <a:rPr lang="en-US" sz="1400" b="1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F=11,229.94，组间差异远大于组内差异，表明不同等级用户的活跃天数差异具有极强的统计显著性。</a:t>
              </a:r>
              <a:endPara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9"/>
            </p:custDataLst>
          </p:nvPr>
        </p:nvGrpSpPr>
        <p:grpSpPr>
          <a:xfrm>
            <a:off x="8234680" y="3914140"/>
            <a:ext cx="3524250" cy="2437130"/>
            <a:chOff x="12654" y="2323"/>
            <a:chExt cx="5550" cy="3838"/>
          </a:xfrm>
        </p:grpSpPr>
        <p:grpSp>
          <p:nvGrpSpPr>
            <p:cNvPr id="22" name="组合 21"/>
            <p:cNvGrpSpPr/>
            <p:nvPr>
              <p:custDataLst>
                <p:tags r:id="rId10"/>
              </p:custDataLst>
            </p:nvPr>
          </p:nvGrpSpPr>
          <p:grpSpPr>
            <a:xfrm>
              <a:off x="12654" y="2323"/>
              <a:ext cx="5550" cy="3838"/>
              <a:chOff x="12654" y="2323"/>
              <a:chExt cx="5550" cy="3838"/>
            </a:xfrm>
          </p:grpSpPr>
          <p:sp>
            <p:nvSpPr>
              <p:cNvPr id="4" name="Shape 1"/>
              <p:cNvSpPr/>
              <p:nvPr>
                <p:custDataLst>
                  <p:tags r:id="rId11"/>
                </p:custDataLst>
              </p:nvPr>
            </p:nvSpPr>
            <p:spPr>
              <a:xfrm>
                <a:off x="12654" y="2323"/>
                <a:ext cx="5550" cy="3839"/>
              </a:xfrm>
              <a:prstGeom prst="rect">
                <a:avLst/>
              </a:prstGeom>
              <a:solidFill>
                <a:srgbClr val="1199FB"/>
              </a:solidFill>
            </p:spPr>
          </p:sp>
          <p:sp>
            <p:nvSpPr>
              <p:cNvPr id="12" name="Text 6"/>
              <p:cNvSpPr/>
              <p:nvPr>
                <p:custDataLst>
                  <p:tags r:id="rId12"/>
                </p:custDataLst>
              </p:nvPr>
            </p:nvSpPr>
            <p:spPr>
              <a:xfrm>
                <a:off x="12918" y="2524"/>
                <a:ext cx="4946" cy="58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sz="1800" b="1" dirty="0">
                    <a:solidFill>
                      <a:srgbClr val="FFFFFF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p值与Eta方</a:t>
                </a:r>
                <a:endParaRPr lang="en-US" sz="1600" dirty="0"/>
              </a:p>
            </p:txBody>
          </p:sp>
        </p:grpSp>
        <p:sp>
          <p:nvSpPr>
            <p:cNvPr id="13" name="Text 7"/>
            <p:cNvSpPr/>
            <p:nvPr>
              <p:custDataLst>
                <p:tags r:id="rId13"/>
              </p:custDataLst>
            </p:nvPr>
          </p:nvSpPr>
          <p:spPr>
            <a:xfrm>
              <a:off x="12943" y="3082"/>
              <a:ext cx="5070" cy="269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/>
            <a:lstStyle/>
            <a:p>
              <a:pPr algn="just">
                <a:lnSpc>
                  <a:spcPct val="150000"/>
                </a:lnSpc>
              </a:pPr>
              <a:r>
                <a:rPr lang="en-US" sz="1400" b="1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p&lt;0.001达到极显著水平，Eta方=0.718，用户等级可解释72%的活跃天数变异，模型解释力强劲。</a:t>
              </a:r>
              <a:endPara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</p:grpSp>
      <p:sp>
        <p:nvSpPr>
          <p:cNvPr id="14" name="Text 8"/>
          <p:cNvSpPr/>
          <p:nvPr>
            <p:custDataLst>
              <p:tags r:id="rId14"/>
            </p:custDataLst>
          </p:nvPr>
        </p:nvSpPr>
        <p:spPr>
          <a:xfrm>
            <a:off x="4542950" y="4034790"/>
            <a:ext cx="3141621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验证结论</a:t>
            </a:r>
            <a:endParaRPr lang="en-US" sz="1600" dirty="0"/>
          </a:p>
        </p:txBody>
      </p:sp>
      <p:sp>
        <p:nvSpPr>
          <p:cNvPr id="15" name="Text 9"/>
          <p:cNvSpPr/>
          <p:nvPr>
            <p:custDataLst>
              <p:tags r:id="rId15"/>
            </p:custDataLst>
          </p:nvPr>
        </p:nvSpPr>
        <p:spPr>
          <a:xfrm>
            <a:off x="4542950" y="4410075"/>
            <a:ext cx="3219746" cy="17964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单因素ANOVA检验证实，基于活跃天数的用户价值分层在统计学上合理有效，具备科学性与可靠性。</a:t>
            </a:r>
            <a:endParaRPr lang="en-US" sz="14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6">
            <a:alphaModFix amt="70000"/>
          </a:blip>
          <a:srcRect l="1547" t="5488"/>
          <a:stretch>
            <a:fillRect/>
          </a:stretch>
        </p:blipFill>
        <p:spPr>
          <a:xfrm>
            <a:off x="1747520" y="1360170"/>
            <a:ext cx="8888095" cy="2416810"/>
          </a:xfrm>
          <a:prstGeom prst="snip2SameRect">
            <a:avLst/>
          </a:prstGeom>
          <a:ln>
            <a:solidFill>
              <a:srgbClr val="C8E9FA"/>
            </a:solidFill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>
            <p:custDataLst>
              <p:tags r:id="rId2"/>
            </p:custDataLst>
          </p:nvPr>
        </p:nvSpPr>
        <p:spPr>
          <a:xfrm>
            <a:off x="1082040" y="3093343"/>
            <a:ext cx="6075680" cy="0"/>
          </a:xfrm>
          <a:prstGeom prst="line">
            <a:avLst/>
          </a:prstGeom>
          <a:noFill/>
          <a:ln w="12700">
            <a:solidFill>
              <a:srgbClr val="0B207A"/>
            </a:solidFill>
            <a:prstDash val="dash"/>
            <a:headEnd type="none"/>
            <a:tailEnd type="none"/>
          </a:ln>
        </p:spPr>
      </p:sp>
      <p:sp>
        <p:nvSpPr>
          <p:cNvPr id="4" name="Shape 1"/>
          <p:cNvSpPr/>
          <p:nvPr>
            <p:custDataLst>
              <p:tags r:id="rId3"/>
            </p:custDataLst>
          </p:nvPr>
        </p:nvSpPr>
        <p:spPr>
          <a:xfrm>
            <a:off x="1082040" y="4137856"/>
            <a:ext cx="6075680" cy="0"/>
          </a:xfrm>
          <a:prstGeom prst="line">
            <a:avLst/>
          </a:prstGeom>
          <a:noFill/>
          <a:ln w="12700">
            <a:solidFill>
              <a:srgbClr val="0B207A"/>
            </a:solidFill>
            <a:prstDash val="dash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595630" y="575945"/>
            <a:ext cx="8434705" cy="6438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活跃趋势与时段偏好洞察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30-16:31:52-d3dpau0s8jdo4os5dgh0.png"/>
          <p:cNvPicPr>
            <a:picLocks noChangeAspect="1"/>
          </p:cNvPicPr>
          <p:nvPr/>
        </p:nvPicPr>
        <p:blipFill>
          <a:blip r:embed="rId4"/>
          <a:srcRect t="110" b="110"/>
          <a:stretch>
            <a:fillRect/>
          </a:stretch>
        </p:blipFill>
        <p:spPr>
          <a:xfrm>
            <a:off x="15875" y="550545"/>
            <a:ext cx="579755" cy="652145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9-30-16:31:52-d3dpau0s8jdo4os5dgf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5001260"/>
            <a:ext cx="686435" cy="709930"/>
          </a:xfrm>
          <a:prstGeom prst="rect">
            <a:avLst/>
          </a:prstGeom>
        </p:spPr>
      </p:pic>
      <p:sp>
        <p:nvSpPr>
          <p:cNvPr id="8" name="Text 3"/>
          <p:cNvSpPr/>
          <p:nvPr>
            <p:custDataLst>
              <p:tags r:id="rId6"/>
            </p:custDataLst>
          </p:nvPr>
        </p:nvSpPr>
        <p:spPr>
          <a:xfrm>
            <a:off x="1082040" y="1928775"/>
            <a:ext cx="607568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DAU趋势特征</a:t>
            </a:r>
            <a:endParaRPr lang="en-US" sz="1600" dirty="0"/>
          </a:p>
        </p:txBody>
      </p:sp>
      <p:sp>
        <p:nvSpPr>
          <p:cNvPr id="9" name="Text 4"/>
          <p:cNvSpPr/>
          <p:nvPr>
            <p:custDataLst>
              <p:tags r:id="rId7"/>
            </p:custDataLst>
          </p:nvPr>
        </p:nvSpPr>
        <p:spPr>
          <a:xfrm>
            <a:off x="1082040" y="2236332"/>
            <a:ext cx="6075680" cy="5708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2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每日活跃用户数相对稳定，波动幅度可控，无异常跳变，表明用户基础活跃习惯成熟且可预测。</a:t>
            </a:r>
            <a:endParaRPr lang="en-US" sz="1600" dirty="0"/>
          </a:p>
        </p:txBody>
      </p:sp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1082040" y="3236178"/>
            <a:ext cx="607568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时段分布规律</a:t>
            </a:r>
            <a:endParaRPr lang="en-US" sz="16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1082040" y="3543735"/>
            <a:ext cx="6075680" cy="3308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2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用户活跃集中于下午至晚间时段，凌晨时段活跃度最低，呈现明显的昼夜节律特征。</a:t>
            </a:r>
            <a:endParaRPr lang="en-US" sz="1600" dirty="0"/>
          </a:p>
        </p:txBody>
      </p:sp>
      <p:sp>
        <p:nvSpPr>
          <p:cNvPr id="12" name="Text 7"/>
          <p:cNvSpPr/>
          <p:nvPr>
            <p:custDataLst>
              <p:tags r:id="rId10"/>
            </p:custDataLst>
          </p:nvPr>
        </p:nvSpPr>
        <p:spPr>
          <a:xfrm>
            <a:off x="1082040" y="4416374"/>
            <a:ext cx="607568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高峰窗口识别</a:t>
            </a:r>
            <a:endParaRPr lang="en-US" sz="1600" dirty="0"/>
          </a:p>
        </p:txBody>
      </p:sp>
      <p:sp>
        <p:nvSpPr>
          <p:cNvPr id="13" name="Text 8"/>
          <p:cNvSpPr/>
          <p:nvPr>
            <p:custDataLst>
              <p:tags r:id="rId11"/>
            </p:custDataLst>
          </p:nvPr>
        </p:nvSpPr>
        <p:spPr>
          <a:xfrm>
            <a:off x="1082040" y="4670798"/>
            <a:ext cx="6075680" cy="3308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2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20-23时为全天活跃最高峰，活跃用户数显著高于其他时段，是黄金触达窗口期。</a:t>
            </a:r>
            <a:endParaRPr lang="en-US" sz="1600" dirty="0"/>
          </a:p>
        </p:txBody>
      </p:sp>
      <p:sp>
        <p:nvSpPr>
          <p:cNvPr id="16" name="Shape 1"/>
          <p:cNvSpPr/>
          <p:nvPr>
            <p:custDataLst>
              <p:tags r:id="rId12"/>
            </p:custDataLst>
          </p:nvPr>
        </p:nvSpPr>
        <p:spPr>
          <a:xfrm flipV="1">
            <a:off x="1082040" y="5192395"/>
            <a:ext cx="5654040" cy="4445"/>
          </a:xfrm>
          <a:prstGeom prst="line">
            <a:avLst/>
          </a:prstGeom>
          <a:noFill/>
          <a:ln w="12700">
            <a:solidFill>
              <a:srgbClr val="0B207A"/>
            </a:solidFill>
            <a:prstDash val="dash"/>
            <a:headEnd type="none"/>
            <a:tailEnd type="none"/>
          </a:ln>
        </p:spPr>
      </p:sp>
      <p:sp>
        <p:nvSpPr>
          <p:cNvPr id="18" name="Text 7"/>
          <p:cNvSpPr/>
          <p:nvPr>
            <p:custDataLst>
              <p:tags r:id="rId13"/>
            </p:custDataLst>
          </p:nvPr>
        </p:nvSpPr>
        <p:spPr>
          <a:xfrm>
            <a:off x="1082040" y="5326329"/>
            <a:ext cx="607568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运营策略建议</a:t>
            </a:r>
            <a:endParaRPr lang="en-US" sz="1600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19" name="Text 8"/>
          <p:cNvSpPr/>
          <p:nvPr>
            <p:custDataLst>
              <p:tags r:id="rId14"/>
            </p:custDataLst>
          </p:nvPr>
        </p:nvSpPr>
        <p:spPr>
          <a:xfrm>
            <a:off x="1082040" y="5620123"/>
            <a:ext cx="6075680" cy="5708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将推送通知、营销活动集中排布于20-23时高峰窗口，最大化触达效果与投入产出比。</a:t>
            </a:r>
            <a:endParaRPr lang="en-US" sz="1200" dirty="0">
              <a:solidFill>
                <a:schemeClr val="tx1"/>
              </a:solidFill>
            </a:endParaRPr>
          </a:p>
          <a:p>
            <a:pPr algn="just">
              <a:lnSpc>
                <a:spcPct val="130000"/>
              </a:lnSpc>
            </a:pPr>
            <a:endParaRPr lang="en-US" sz="1200" b="1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5">
            <a:alphaModFix amt="80000"/>
          </a:blip>
          <a:srcRect l="-2469" t="7400"/>
          <a:stretch>
            <a:fillRect/>
          </a:stretch>
        </p:blipFill>
        <p:spPr>
          <a:xfrm>
            <a:off x="7452360" y="1928495"/>
            <a:ext cx="4097020" cy="2209165"/>
          </a:xfrm>
          <a:prstGeom prst="round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6">
            <a:alphaModFix amt="80000"/>
          </a:blip>
          <a:stretch>
            <a:fillRect/>
          </a:stretch>
        </p:blipFill>
        <p:spPr>
          <a:xfrm>
            <a:off x="7481570" y="4137660"/>
            <a:ext cx="4067810" cy="2011680"/>
          </a:xfrm>
          <a:prstGeom prst="round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1-d3dpatos8jdo4os5dgc0.jpg"/>
          <p:cNvPicPr>
            <a:picLocks noChangeAspect="1"/>
          </p:cNvPicPr>
          <p:nvPr/>
        </p:nvPicPr>
        <p:blipFill>
          <a:blip r:embed="rId2"/>
          <a:srcRect t="81" b="81"/>
          <a:stretch>
            <a:fillRect/>
          </a:stretch>
        </p:blipFill>
        <p:spPr>
          <a:xfrm rot="21600000">
            <a:off x="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17533" y="3429000"/>
            <a:ext cx="5956935" cy="828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1199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策略输出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117533" y="1860550"/>
            <a:ext cx="5956935" cy="15729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1199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30-16:31:52-d3dpau0s8jdo4os5dg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465" y="1539875"/>
            <a:ext cx="2349500" cy="273304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30-16:31:52-d3dpau0s8jdo4os5dgf0.png"/>
          <p:cNvPicPr>
            <a:picLocks noChangeAspect="1"/>
          </p:cNvPicPr>
          <p:nvPr/>
        </p:nvPicPr>
        <p:blipFill>
          <a:blip r:embed="rId4"/>
          <a:srcRect t="3182" b="3182"/>
          <a:stretch>
            <a:fillRect/>
          </a:stretch>
        </p:blipFill>
        <p:spPr>
          <a:xfrm rot="3660000">
            <a:off x="9880600" y="4845050"/>
            <a:ext cx="1117600" cy="101790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724515" y="549275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2:13-d3dpb38s8jdo4os5dgrg.png"/>
          <p:cNvPicPr>
            <a:picLocks noChangeAspect="1"/>
          </p:cNvPicPr>
          <p:nvPr/>
        </p:nvPicPr>
        <p:blipFill>
          <a:blip r:embed="rId2"/>
          <a:srcRect t="9" b="9"/>
          <a:stretch>
            <a:fillRect/>
          </a:stretch>
        </p:blipFill>
        <p:spPr>
          <a:xfrm>
            <a:off x="15240" y="1923415"/>
            <a:ext cx="3718560" cy="371856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30-16:31:52-d3dpau0s8jdo4os5dgcg.png"/>
          <p:cNvPicPr>
            <a:picLocks noChangeAspect="1"/>
          </p:cNvPicPr>
          <p:nvPr/>
        </p:nvPicPr>
        <p:blipFill>
          <a:blip r:embed="rId3"/>
          <a:srcRect t="34" b="34"/>
          <a:stretch>
            <a:fillRect/>
          </a:stretch>
        </p:blipFill>
        <p:spPr>
          <a:xfrm>
            <a:off x="3575050" y="1646555"/>
            <a:ext cx="941070" cy="94107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30-16:31:52-d3dpau0s8jdo4os5dgcg.png"/>
          <p:cNvPicPr>
            <a:picLocks noChangeAspect="1"/>
          </p:cNvPicPr>
          <p:nvPr/>
        </p:nvPicPr>
        <p:blipFill>
          <a:blip r:embed="rId3"/>
          <a:srcRect t="34" b="34"/>
          <a:stretch>
            <a:fillRect/>
          </a:stretch>
        </p:blipFill>
        <p:spPr>
          <a:xfrm>
            <a:off x="4064000" y="3241675"/>
            <a:ext cx="941070" cy="94107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30-16:31:52-d3dpau0s8jdo4os5dgcg.png"/>
          <p:cNvPicPr>
            <a:picLocks noChangeAspect="1"/>
          </p:cNvPicPr>
          <p:nvPr/>
        </p:nvPicPr>
        <p:blipFill>
          <a:blip r:embed="rId3"/>
          <a:srcRect t="34" b="34"/>
          <a:stretch>
            <a:fillRect/>
          </a:stretch>
        </p:blipFill>
        <p:spPr>
          <a:xfrm>
            <a:off x="3552190" y="5015230"/>
            <a:ext cx="941070" cy="94107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95630" y="575945"/>
            <a:ext cx="11160125" cy="6438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核心发现与差异化运营建议</a:t>
            </a:r>
            <a:endParaRPr lang="en-US" sz="1600" dirty="0"/>
          </a:p>
        </p:txBody>
      </p:sp>
      <p:pic>
        <p:nvPicPr>
          <p:cNvPr id="7" name="Image 4" descr="https://kimi-img.moonshot.cn/pub/slides/slides_tmpl/image/25-09-30-16:31:52-d3dpau0s8jdo4os5dgh0.png"/>
          <p:cNvPicPr>
            <a:picLocks noChangeAspect="1"/>
          </p:cNvPicPr>
          <p:nvPr/>
        </p:nvPicPr>
        <p:blipFill>
          <a:blip r:embed="rId4"/>
          <a:srcRect t="110" b="110"/>
          <a:stretch>
            <a:fillRect/>
          </a:stretch>
        </p:blipFill>
        <p:spPr>
          <a:xfrm>
            <a:off x="2540" y="550545"/>
            <a:ext cx="579755" cy="65214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30-16:32:14-d3dpb3gs8jdo4os5dgt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230" y="2032635"/>
            <a:ext cx="3340735" cy="348107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626168" y="1825308"/>
            <a:ext cx="838835" cy="5909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4516120" y="1638935"/>
            <a:ext cx="6651625" cy="375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高价值用户运营</a:t>
            </a: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4516120" y="2012315"/>
            <a:ext cx="6848475" cy="6631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高价值用户占34.4%是核心资产，建议设计VIP权益、专属客服与优先体验，提升忠诚度并降低流失风险。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4115118" y="3420428"/>
            <a:ext cx="838835" cy="5909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5005070" y="3328035"/>
            <a:ext cx="6651625" cy="375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中低价值用户转化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5005070" y="3701415"/>
            <a:ext cx="6795770" cy="6631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中价值用户占比37.1%，通过签到激励与任务引导提升活跃频次；低价值用户占28.5%，推送召回优惠券激活沉默群体。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3603308" y="5193983"/>
            <a:ext cx="838835" cy="5909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4516120" y="5017135"/>
            <a:ext cx="6651625" cy="375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时段策略与数据驱动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4516120" y="5390515"/>
            <a:ext cx="6978650" cy="6631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营销推送优先排布于20-23时高峰窗口，基于SPSS验证的分层体系设计精细化运营策略，实现数据驱动业务增长。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5390" y="1849120"/>
            <a:ext cx="4457065" cy="18478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9265" y="1630680"/>
            <a:ext cx="3409950" cy="369570"/>
          </a:xfrm>
          <a:prstGeom prst="roundRect">
            <a:avLst>
              <a:gd name="adj" fmla="val 16667"/>
            </a:avLst>
          </a:prstGeom>
          <a:solidFill>
            <a:srgbClr val="1199FB"/>
          </a:solidFill>
        </p:spPr>
      </p:sp>
      <p:sp>
        <p:nvSpPr>
          <p:cNvPr id="4" name="Shape 2"/>
          <p:cNvSpPr/>
          <p:nvPr/>
        </p:nvSpPr>
        <p:spPr>
          <a:xfrm>
            <a:off x="6358890" y="1849120"/>
            <a:ext cx="4457065" cy="18478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82765" y="1630680"/>
            <a:ext cx="3409950" cy="369570"/>
          </a:xfrm>
          <a:prstGeom prst="roundRect">
            <a:avLst>
              <a:gd name="adj" fmla="val 16667"/>
            </a:avLst>
          </a:prstGeom>
          <a:solidFill>
            <a:srgbClr val="1199FB"/>
          </a:solidFill>
        </p:spPr>
      </p:sp>
      <p:sp>
        <p:nvSpPr>
          <p:cNvPr id="6" name="Shape 4"/>
          <p:cNvSpPr/>
          <p:nvPr/>
        </p:nvSpPr>
        <p:spPr>
          <a:xfrm>
            <a:off x="1215390" y="4262120"/>
            <a:ext cx="4457065" cy="18478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9265" y="4043877"/>
            <a:ext cx="3409950" cy="369373"/>
          </a:xfrm>
          <a:prstGeom prst="roundRect">
            <a:avLst>
              <a:gd name="adj" fmla="val 16667"/>
            </a:avLst>
          </a:prstGeom>
          <a:solidFill>
            <a:srgbClr val="1199FB"/>
          </a:solidFill>
        </p:spPr>
      </p:sp>
      <p:sp>
        <p:nvSpPr>
          <p:cNvPr id="8" name="Shape 6"/>
          <p:cNvSpPr/>
          <p:nvPr/>
        </p:nvSpPr>
        <p:spPr>
          <a:xfrm>
            <a:off x="6371590" y="4262120"/>
            <a:ext cx="4457065" cy="18478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95465" y="4043877"/>
            <a:ext cx="3409950" cy="369373"/>
          </a:xfrm>
          <a:prstGeom prst="roundRect">
            <a:avLst>
              <a:gd name="adj" fmla="val 16667"/>
            </a:avLst>
          </a:prstGeom>
          <a:solidFill>
            <a:srgbClr val="1199FB"/>
          </a:solidFill>
        </p:spPr>
      </p:sp>
      <p:sp>
        <p:nvSpPr>
          <p:cNvPr id="10" name="Text 8"/>
          <p:cNvSpPr/>
          <p:nvPr/>
        </p:nvSpPr>
        <p:spPr>
          <a:xfrm>
            <a:off x="595630" y="575945"/>
            <a:ext cx="8434705" cy="6438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项目总结</a:t>
            </a:r>
            <a:endParaRPr lang="en-US" sz="1600" dirty="0"/>
          </a:p>
        </p:txBody>
      </p:sp>
      <p:pic>
        <p:nvPicPr>
          <p:cNvPr id="11" name="Image 0" descr="https://kimi-img.moonshot.cn/pub/slides/slides_tmpl/image/25-09-30-16:31:52-d3dpau0s8jdo4os5dgh0.png"/>
          <p:cNvPicPr>
            <a:picLocks noChangeAspect="1"/>
          </p:cNvPicPr>
          <p:nvPr/>
        </p:nvPicPr>
        <p:blipFill>
          <a:blip r:embed="rId2"/>
          <a:srcRect t="110" b="110"/>
          <a:stretch>
            <a:fillRect/>
          </a:stretch>
        </p:blipFill>
        <p:spPr>
          <a:xfrm>
            <a:off x="15875" y="550545"/>
            <a:ext cx="579755" cy="65214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17370" y="1623695"/>
            <a:ext cx="3221990" cy="375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全流程分析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89685" y="2143125"/>
            <a:ext cx="4382135" cy="6371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基于1,200万条真实用户行为数据，完成从数据清洗、指标计算到策略输出的完整数据分析闭环。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817666" y="4036695"/>
            <a:ext cx="3222278" cy="375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用户分层体系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55451" y="4556125"/>
            <a:ext cx="4382250" cy="6371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使用Python构建高、中、低价值用户分层，占比分别为34.4%、37.1%、28.5%，区隔清晰可运营。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60870" y="1623695"/>
            <a:ext cx="3221990" cy="375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统计验证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10325" y="2143125"/>
            <a:ext cx="4382770" cy="6371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SPSS ANOVA检验p&lt;0.001、Eta方=0.718，验证分层方案统计学有效性，解释力达72%。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973866" y="4036695"/>
            <a:ext cx="3222278" cy="375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可视化与策略落地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11651" y="4556125"/>
            <a:ext cx="4347761" cy="6371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Power BI搭建交互式可视化看板，输出可落地的差异化运营策略，实现数据价值向业务价值的转化。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1-d3dpatos8jdo4os5dgc0.jpg"/>
          <p:cNvPicPr>
            <a:picLocks noChangeAspect="1"/>
          </p:cNvPicPr>
          <p:nvPr/>
        </p:nvPicPr>
        <p:blipFill>
          <a:blip r:embed="rId2"/>
          <a:srcRect t="81" b="81"/>
          <a:stretch>
            <a:fillRect/>
          </a:stretch>
        </p:blipFill>
        <p:spPr>
          <a:xfrm rot="21600000">
            <a:off x="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5505" y="1656715"/>
            <a:ext cx="4873625" cy="29489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8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61390" y="1196340"/>
            <a:ext cx="4716780" cy="4597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WATCHING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30-16:32:24-d3dpb60s8jdo4os5dh00.png"/>
          <p:cNvPicPr>
            <a:picLocks noChangeAspect="1"/>
          </p:cNvPicPr>
          <p:nvPr/>
        </p:nvPicPr>
        <p:blipFill>
          <a:blip r:embed="rId3"/>
          <a:srcRect t="358" b="358"/>
          <a:stretch>
            <a:fillRect/>
          </a:stretch>
        </p:blipFill>
        <p:spPr>
          <a:xfrm>
            <a:off x="798195" y="1000760"/>
            <a:ext cx="4845050" cy="13843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738360" y="496570"/>
            <a:ext cx="1160145" cy="638810"/>
          </a:xfrm>
          <a:custGeom>
            <a:avLst/>
            <a:gdLst/>
            <a:ahLst/>
            <a:cxnLst/>
            <a:rect l="l" t="t" r="r" b="b"/>
            <a:pathLst>
              <a:path w="1160145" h="638810">
                <a:moveTo>
                  <a:pt x="51650" y="22775"/>
                </a:moveTo>
                <a:cubicBezTo>
                  <a:pt x="51650" y="35403"/>
                  <a:pt x="39866" y="45640"/>
                  <a:pt x="25329" y="45640"/>
                </a:cubicBezTo>
                <a:cubicBezTo>
                  <a:pt x="10793" y="45640"/>
                  <a:pt x="-991" y="35403"/>
                  <a:pt x="-991" y="22775"/>
                </a:cubicBezTo>
                <a:cubicBezTo>
                  <a:pt x="-991" y="10148"/>
                  <a:pt x="10793" y="-89"/>
                  <a:pt x="25329" y="-89"/>
                </a:cubicBezTo>
                <a:cubicBezTo>
                  <a:pt x="39860" y="-95"/>
                  <a:pt x="51642" y="10133"/>
                  <a:pt x="51650" y="22753"/>
                </a:cubicBezTo>
                <a:cubicBezTo>
                  <a:pt x="51650" y="22761"/>
                  <a:pt x="51650" y="22768"/>
                  <a:pt x="51650" y="22775"/>
                </a:cubicBezTo>
                <a:close/>
                <a:moveTo>
                  <a:pt x="273361" y="22775"/>
                </a:moveTo>
                <a:cubicBezTo>
                  <a:pt x="273361" y="35403"/>
                  <a:pt x="261577" y="45640"/>
                  <a:pt x="247041" y="45640"/>
                </a:cubicBezTo>
                <a:cubicBezTo>
                  <a:pt x="232505" y="45640"/>
                  <a:pt x="220720" y="35403"/>
                  <a:pt x="220720" y="22775"/>
                </a:cubicBezTo>
                <a:cubicBezTo>
                  <a:pt x="220720" y="10148"/>
                  <a:pt x="232505" y="-89"/>
                  <a:pt x="247041" y="-89"/>
                </a:cubicBezTo>
                <a:cubicBezTo>
                  <a:pt x="261569" y="-74"/>
                  <a:pt x="273345" y="10154"/>
                  <a:pt x="273361" y="22775"/>
                </a:cubicBezTo>
                <a:close/>
                <a:moveTo>
                  <a:pt x="495012" y="22775"/>
                </a:moveTo>
                <a:cubicBezTo>
                  <a:pt x="495012" y="35403"/>
                  <a:pt x="483227" y="45640"/>
                  <a:pt x="468691" y="45640"/>
                </a:cubicBezTo>
                <a:cubicBezTo>
                  <a:pt x="454155" y="45640"/>
                  <a:pt x="442371" y="35403"/>
                  <a:pt x="442371" y="22775"/>
                </a:cubicBezTo>
                <a:cubicBezTo>
                  <a:pt x="442371" y="10148"/>
                  <a:pt x="454155" y="-89"/>
                  <a:pt x="468691" y="-89"/>
                </a:cubicBezTo>
                <a:cubicBezTo>
                  <a:pt x="483220" y="-95"/>
                  <a:pt x="495003" y="10133"/>
                  <a:pt x="495012" y="22753"/>
                </a:cubicBezTo>
                <a:cubicBezTo>
                  <a:pt x="495012" y="22761"/>
                  <a:pt x="495012" y="22768"/>
                  <a:pt x="495012" y="22775"/>
                </a:cubicBezTo>
                <a:close/>
                <a:moveTo>
                  <a:pt x="716723" y="22775"/>
                </a:moveTo>
                <a:cubicBezTo>
                  <a:pt x="716723" y="35403"/>
                  <a:pt x="704939" y="45640"/>
                  <a:pt x="690403" y="45640"/>
                </a:cubicBezTo>
                <a:cubicBezTo>
                  <a:pt x="675866" y="45640"/>
                  <a:pt x="664082" y="35403"/>
                  <a:pt x="664082" y="22775"/>
                </a:cubicBezTo>
                <a:cubicBezTo>
                  <a:pt x="664082" y="10148"/>
                  <a:pt x="675866" y="-89"/>
                  <a:pt x="690403" y="-89"/>
                </a:cubicBezTo>
                <a:cubicBezTo>
                  <a:pt x="704933" y="-95"/>
                  <a:pt x="716715" y="10133"/>
                  <a:pt x="716723" y="22753"/>
                </a:cubicBezTo>
                <a:cubicBezTo>
                  <a:pt x="716723" y="22761"/>
                  <a:pt x="716723" y="22768"/>
                  <a:pt x="716723" y="22775"/>
                </a:cubicBezTo>
                <a:close/>
                <a:moveTo>
                  <a:pt x="938435" y="22775"/>
                </a:moveTo>
                <a:cubicBezTo>
                  <a:pt x="938435" y="35403"/>
                  <a:pt x="926651" y="45640"/>
                  <a:pt x="912114" y="45640"/>
                </a:cubicBezTo>
                <a:cubicBezTo>
                  <a:pt x="897579" y="45640"/>
                  <a:pt x="885794" y="35403"/>
                  <a:pt x="885794" y="22775"/>
                </a:cubicBezTo>
                <a:cubicBezTo>
                  <a:pt x="885794" y="10148"/>
                  <a:pt x="897579" y="-89"/>
                  <a:pt x="912114" y="-89"/>
                </a:cubicBezTo>
                <a:cubicBezTo>
                  <a:pt x="926644" y="-95"/>
                  <a:pt x="938427" y="10133"/>
                  <a:pt x="938435" y="22753"/>
                </a:cubicBezTo>
                <a:cubicBezTo>
                  <a:pt x="938435" y="22761"/>
                  <a:pt x="938435" y="22768"/>
                  <a:pt x="938435" y="22775"/>
                </a:cubicBezTo>
                <a:close/>
                <a:moveTo>
                  <a:pt x="1160145" y="22775"/>
                </a:moveTo>
                <a:cubicBezTo>
                  <a:pt x="1160145" y="35403"/>
                  <a:pt x="1148361" y="45640"/>
                  <a:pt x="1133824" y="45640"/>
                </a:cubicBezTo>
                <a:cubicBezTo>
                  <a:pt x="1119288" y="45640"/>
                  <a:pt x="1107504" y="35403"/>
                  <a:pt x="1107504" y="22775"/>
                </a:cubicBezTo>
                <a:cubicBezTo>
                  <a:pt x="1107504" y="10148"/>
                  <a:pt x="1119288" y="-89"/>
                  <a:pt x="1133824" y="-89"/>
                </a:cubicBezTo>
                <a:cubicBezTo>
                  <a:pt x="1148353" y="-74"/>
                  <a:pt x="1160129" y="10154"/>
                  <a:pt x="1160145" y="22775"/>
                </a:cubicBezTo>
                <a:close/>
                <a:moveTo>
                  <a:pt x="51650" y="171068"/>
                </a:moveTo>
                <a:cubicBezTo>
                  <a:pt x="51650" y="183696"/>
                  <a:pt x="39866" y="193933"/>
                  <a:pt x="25329" y="193933"/>
                </a:cubicBezTo>
                <a:cubicBezTo>
                  <a:pt x="10793" y="193933"/>
                  <a:pt x="-991" y="183696"/>
                  <a:pt x="-991" y="171068"/>
                </a:cubicBezTo>
                <a:cubicBezTo>
                  <a:pt x="-991" y="158440"/>
                  <a:pt x="10793" y="148203"/>
                  <a:pt x="25329" y="148203"/>
                </a:cubicBezTo>
                <a:cubicBezTo>
                  <a:pt x="39860" y="148197"/>
                  <a:pt x="51642" y="158425"/>
                  <a:pt x="51650" y="171047"/>
                </a:cubicBezTo>
                <a:cubicBezTo>
                  <a:pt x="51650" y="171054"/>
                  <a:pt x="51650" y="171061"/>
                  <a:pt x="51650" y="171068"/>
                </a:cubicBezTo>
                <a:close/>
                <a:moveTo>
                  <a:pt x="273361" y="171068"/>
                </a:moveTo>
                <a:cubicBezTo>
                  <a:pt x="273361" y="183696"/>
                  <a:pt x="261577" y="193933"/>
                  <a:pt x="247041" y="193933"/>
                </a:cubicBezTo>
                <a:cubicBezTo>
                  <a:pt x="232505" y="193933"/>
                  <a:pt x="220720" y="183696"/>
                  <a:pt x="220720" y="171068"/>
                </a:cubicBezTo>
                <a:cubicBezTo>
                  <a:pt x="220720" y="158440"/>
                  <a:pt x="232505" y="148203"/>
                  <a:pt x="247041" y="148203"/>
                </a:cubicBezTo>
                <a:cubicBezTo>
                  <a:pt x="261569" y="148218"/>
                  <a:pt x="273345" y="158446"/>
                  <a:pt x="273361" y="171068"/>
                </a:cubicBezTo>
                <a:close/>
                <a:moveTo>
                  <a:pt x="495012" y="171068"/>
                </a:moveTo>
                <a:cubicBezTo>
                  <a:pt x="495012" y="183696"/>
                  <a:pt x="483227" y="193933"/>
                  <a:pt x="468691" y="193933"/>
                </a:cubicBezTo>
                <a:cubicBezTo>
                  <a:pt x="454155" y="193933"/>
                  <a:pt x="442371" y="183696"/>
                  <a:pt x="442371" y="171068"/>
                </a:cubicBezTo>
                <a:cubicBezTo>
                  <a:pt x="442371" y="158440"/>
                  <a:pt x="454155" y="148203"/>
                  <a:pt x="468691" y="148203"/>
                </a:cubicBezTo>
                <a:cubicBezTo>
                  <a:pt x="483220" y="148197"/>
                  <a:pt x="495003" y="158425"/>
                  <a:pt x="495012" y="171047"/>
                </a:cubicBezTo>
                <a:cubicBezTo>
                  <a:pt x="495012" y="171054"/>
                  <a:pt x="495012" y="171061"/>
                  <a:pt x="495012" y="171068"/>
                </a:cubicBezTo>
                <a:close/>
                <a:moveTo>
                  <a:pt x="716723" y="171068"/>
                </a:moveTo>
                <a:cubicBezTo>
                  <a:pt x="716723" y="183696"/>
                  <a:pt x="704939" y="193933"/>
                  <a:pt x="690403" y="193933"/>
                </a:cubicBezTo>
                <a:cubicBezTo>
                  <a:pt x="675866" y="193933"/>
                  <a:pt x="664082" y="183696"/>
                  <a:pt x="664082" y="171068"/>
                </a:cubicBezTo>
                <a:cubicBezTo>
                  <a:pt x="664082" y="158440"/>
                  <a:pt x="675866" y="148203"/>
                  <a:pt x="690403" y="148203"/>
                </a:cubicBezTo>
                <a:cubicBezTo>
                  <a:pt x="704933" y="148197"/>
                  <a:pt x="716715" y="158425"/>
                  <a:pt x="716723" y="171047"/>
                </a:cubicBezTo>
                <a:cubicBezTo>
                  <a:pt x="716723" y="171054"/>
                  <a:pt x="716723" y="171061"/>
                  <a:pt x="716723" y="171068"/>
                </a:cubicBezTo>
                <a:close/>
                <a:moveTo>
                  <a:pt x="938435" y="171068"/>
                </a:moveTo>
                <a:cubicBezTo>
                  <a:pt x="938435" y="183696"/>
                  <a:pt x="926651" y="193933"/>
                  <a:pt x="912114" y="193933"/>
                </a:cubicBezTo>
                <a:cubicBezTo>
                  <a:pt x="897579" y="193933"/>
                  <a:pt x="885794" y="183696"/>
                  <a:pt x="885794" y="171068"/>
                </a:cubicBezTo>
                <a:cubicBezTo>
                  <a:pt x="885794" y="158440"/>
                  <a:pt x="897579" y="148203"/>
                  <a:pt x="912114" y="148203"/>
                </a:cubicBezTo>
                <a:cubicBezTo>
                  <a:pt x="926644" y="148197"/>
                  <a:pt x="938427" y="158425"/>
                  <a:pt x="938435" y="171047"/>
                </a:cubicBezTo>
                <a:cubicBezTo>
                  <a:pt x="938435" y="171054"/>
                  <a:pt x="938435" y="171061"/>
                  <a:pt x="938435" y="171068"/>
                </a:cubicBezTo>
                <a:close/>
                <a:moveTo>
                  <a:pt x="1160145" y="171068"/>
                </a:moveTo>
                <a:cubicBezTo>
                  <a:pt x="1160145" y="183696"/>
                  <a:pt x="1148361" y="193933"/>
                  <a:pt x="1133824" y="193933"/>
                </a:cubicBezTo>
                <a:cubicBezTo>
                  <a:pt x="1119288" y="193933"/>
                  <a:pt x="1107504" y="183696"/>
                  <a:pt x="1107504" y="171068"/>
                </a:cubicBezTo>
                <a:cubicBezTo>
                  <a:pt x="1107504" y="158440"/>
                  <a:pt x="1119288" y="148203"/>
                  <a:pt x="1133824" y="148203"/>
                </a:cubicBezTo>
                <a:cubicBezTo>
                  <a:pt x="1148353" y="148218"/>
                  <a:pt x="1160129" y="158446"/>
                  <a:pt x="1160145" y="171068"/>
                </a:cubicBezTo>
                <a:close/>
                <a:moveTo>
                  <a:pt x="51650" y="319360"/>
                </a:moveTo>
                <a:cubicBezTo>
                  <a:pt x="51650" y="331988"/>
                  <a:pt x="39866" y="342225"/>
                  <a:pt x="25329" y="342225"/>
                </a:cubicBezTo>
                <a:cubicBezTo>
                  <a:pt x="10793" y="342225"/>
                  <a:pt x="-991" y="331988"/>
                  <a:pt x="-991" y="319360"/>
                </a:cubicBezTo>
                <a:cubicBezTo>
                  <a:pt x="-991" y="306732"/>
                  <a:pt x="10793" y="296496"/>
                  <a:pt x="25329" y="296496"/>
                </a:cubicBezTo>
                <a:cubicBezTo>
                  <a:pt x="39860" y="296490"/>
                  <a:pt x="51642" y="306717"/>
                  <a:pt x="51650" y="319338"/>
                </a:cubicBezTo>
                <a:cubicBezTo>
                  <a:pt x="51650" y="319345"/>
                  <a:pt x="51650" y="319353"/>
                  <a:pt x="51650" y="319360"/>
                </a:cubicBezTo>
                <a:close/>
                <a:moveTo>
                  <a:pt x="273361" y="319360"/>
                </a:moveTo>
                <a:cubicBezTo>
                  <a:pt x="273361" y="331988"/>
                  <a:pt x="261577" y="342225"/>
                  <a:pt x="247041" y="342225"/>
                </a:cubicBezTo>
                <a:cubicBezTo>
                  <a:pt x="232505" y="342225"/>
                  <a:pt x="220720" y="331988"/>
                  <a:pt x="220720" y="319360"/>
                </a:cubicBezTo>
                <a:cubicBezTo>
                  <a:pt x="220720" y="306732"/>
                  <a:pt x="232505" y="296496"/>
                  <a:pt x="247041" y="296496"/>
                </a:cubicBezTo>
                <a:cubicBezTo>
                  <a:pt x="261569" y="296511"/>
                  <a:pt x="273345" y="306739"/>
                  <a:pt x="273361" y="319360"/>
                </a:cubicBezTo>
                <a:close/>
                <a:moveTo>
                  <a:pt x="495012" y="319360"/>
                </a:moveTo>
                <a:cubicBezTo>
                  <a:pt x="495012" y="331988"/>
                  <a:pt x="483227" y="342225"/>
                  <a:pt x="468691" y="342225"/>
                </a:cubicBezTo>
                <a:cubicBezTo>
                  <a:pt x="454155" y="342225"/>
                  <a:pt x="442371" y="331988"/>
                  <a:pt x="442371" y="319360"/>
                </a:cubicBezTo>
                <a:cubicBezTo>
                  <a:pt x="442371" y="306732"/>
                  <a:pt x="454155" y="296496"/>
                  <a:pt x="468691" y="296496"/>
                </a:cubicBezTo>
                <a:cubicBezTo>
                  <a:pt x="483220" y="296490"/>
                  <a:pt x="495003" y="306717"/>
                  <a:pt x="495012" y="319338"/>
                </a:cubicBezTo>
                <a:cubicBezTo>
                  <a:pt x="495012" y="319345"/>
                  <a:pt x="495012" y="319353"/>
                  <a:pt x="495012" y="319360"/>
                </a:cubicBezTo>
                <a:close/>
                <a:moveTo>
                  <a:pt x="716723" y="319360"/>
                </a:moveTo>
                <a:cubicBezTo>
                  <a:pt x="716723" y="331988"/>
                  <a:pt x="704939" y="342225"/>
                  <a:pt x="690403" y="342225"/>
                </a:cubicBezTo>
                <a:cubicBezTo>
                  <a:pt x="675866" y="342225"/>
                  <a:pt x="664082" y="331988"/>
                  <a:pt x="664082" y="319360"/>
                </a:cubicBezTo>
                <a:cubicBezTo>
                  <a:pt x="664082" y="306732"/>
                  <a:pt x="675866" y="296496"/>
                  <a:pt x="690403" y="296496"/>
                </a:cubicBezTo>
                <a:cubicBezTo>
                  <a:pt x="704933" y="296490"/>
                  <a:pt x="716715" y="306717"/>
                  <a:pt x="716723" y="319338"/>
                </a:cubicBezTo>
                <a:cubicBezTo>
                  <a:pt x="716723" y="319345"/>
                  <a:pt x="716723" y="319353"/>
                  <a:pt x="716723" y="319360"/>
                </a:cubicBezTo>
                <a:close/>
                <a:moveTo>
                  <a:pt x="938435" y="319360"/>
                </a:moveTo>
                <a:cubicBezTo>
                  <a:pt x="938435" y="331988"/>
                  <a:pt x="926651" y="342225"/>
                  <a:pt x="912114" y="342225"/>
                </a:cubicBezTo>
                <a:cubicBezTo>
                  <a:pt x="897579" y="342225"/>
                  <a:pt x="885794" y="331988"/>
                  <a:pt x="885794" y="319360"/>
                </a:cubicBezTo>
                <a:cubicBezTo>
                  <a:pt x="885794" y="306732"/>
                  <a:pt x="897579" y="296496"/>
                  <a:pt x="912114" y="296496"/>
                </a:cubicBezTo>
                <a:cubicBezTo>
                  <a:pt x="926644" y="296490"/>
                  <a:pt x="938427" y="306717"/>
                  <a:pt x="938435" y="319338"/>
                </a:cubicBezTo>
                <a:cubicBezTo>
                  <a:pt x="938435" y="319345"/>
                  <a:pt x="938435" y="319353"/>
                  <a:pt x="938435" y="319360"/>
                </a:cubicBezTo>
                <a:close/>
                <a:moveTo>
                  <a:pt x="1160145" y="319360"/>
                </a:moveTo>
                <a:cubicBezTo>
                  <a:pt x="1160145" y="331988"/>
                  <a:pt x="1148361" y="342225"/>
                  <a:pt x="1133824" y="342225"/>
                </a:cubicBezTo>
                <a:cubicBezTo>
                  <a:pt x="1119288" y="342225"/>
                  <a:pt x="1107504" y="331988"/>
                  <a:pt x="1107504" y="319360"/>
                </a:cubicBezTo>
                <a:cubicBezTo>
                  <a:pt x="1107504" y="306732"/>
                  <a:pt x="1119288" y="296496"/>
                  <a:pt x="1133824" y="296496"/>
                </a:cubicBezTo>
                <a:cubicBezTo>
                  <a:pt x="1148353" y="296511"/>
                  <a:pt x="1160129" y="306739"/>
                  <a:pt x="1160145" y="319360"/>
                </a:cubicBezTo>
                <a:close/>
                <a:moveTo>
                  <a:pt x="51650" y="467653"/>
                </a:moveTo>
                <a:cubicBezTo>
                  <a:pt x="51650" y="480281"/>
                  <a:pt x="39866" y="490518"/>
                  <a:pt x="25329" y="490518"/>
                </a:cubicBezTo>
                <a:cubicBezTo>
                  <a:pt x="10793" y="490518"/>
                  <a:pt x="-991" y="480281"/>
                  <a:pt x="-991" y="467653"/>
                </a:cubicBezTo>
                <a:cubicBezTo>
                  <a:pt x="-991" y="455025"/>
                  <a:pt x="10793" y="444788"/>
                  <a:pt x="25329" y="444788"/>
                </a:cubicBezTo>
                <a:cubicBezTo>
                  <a:pt x="39860" y="444782"/>
                  <a:pt x="51642" y="455009"/>
                  <a:pt x="51650" y="467631"/>
                </a:cubicBezTo>
                <a:cubicBezTo>
                  <a:pt x="51650" y="467639"/>
                  <a:pt x="51650" y="467646"/>
                  <a:pt x="51650" y="467653"/>
                </a:cubicBezTo>
                <a:close/>
                <a:moveTo>
                  <a:pt x="273361" y="467653"/>
                </a:moveTo>
                <a:cubicBezTo>
                  <a:pt x="273361" y="480281"/>
                  <a:pt x="261577" y="490518"/>
                  <a:pt x="247041" y="490518"/>
                </a:cubicBezTo>
                <a:cubicBezTo>
                  <a:pt x="232505" y="490518"/>
                  <a:pt x="220720" y="480281"/>
                  <a:pt x="220720" y="467653"/>
                </a:cubicBezTo>
                <a:cubicBezTo>
                  <a:pt x="220720" y="455025"/>
                  <a:pt x="232505" y="444788"/>
                  <a:pt x="247041" y="444788"/>
                </a:cubicBezTo>
                <a:cubicBezTo>
                  <a:pt x="261569" y="444803"/>
                  <a:pt x="273345" y="455031"/>
                  <a:pt x="273361" y="467653"/>
                </a:cubicBezTo>
                <a:close/>
                <a:moveTo>
                  <a:pt x="495012" y="467653"/>
                </a:moveTo>
                <a:cubicBezTo>
                  <a:pt x="495012" y="480281"/>
                  <a:pt x="483227" y="490518"/>
                  <a:pt x="468691" y="490518"/>
                </a:cubicBezTo>
                <a:cubicBezTo>
                  <a:pt x="454155" y="490518"/>
                  <a:pt x="442371" y="480281"/>
                  <a:pt x="442371" y="467653"/>
                </a:cubicBezTo>
                <a:cubicBezTo>
                  <a:pt x="442371" y="455025"/>
                  <a:pt x="454155" y="444788"/>
                  <a:pt x="468691" y="444788"/>
                </a:cubicBezTo>
                <a:cubicBezTo>
                  <a:pt x="483220" y="444782"/>
                  <a:pt x="495003" y="455009"/>
                  <a:pt x="495012" y="467631"/>
                </a:cubicBezTo>
                <a:cubicBezTo>
                  <a:pt x="495012" y="467639"/>
                  <a:pt x="495012" y="467646"/>
                  <a:pt x="495012" y="467653"/>
                </a:cubicBezTo>
                <a:close/>
                <a:moveTo>
                  <a:pt x="716723" y="467653"/>
                </a:moveTo>
                <a:cubicBezTo>
                  <a:pt x="716723" y="480281"/>
                  <a:pt x="704939" y="490518"/>
                  <a:pt x="690403" y="490518"/>
                </a:cubicBezTo>
                <a:cubicBezTo>
                  <a:pt x="675866" y="490518"/>
                  <a:pt x="664082" y="480281"/>
                  <a:pt x="664082" y="467653"/>
                </a:cubicBezTo>
                <a:cubicBezTo>
                  <a:pt x="664082" y="455025"/>
                  <a:pt x="675866" y="444788"/>
                  <a:pt x="690403" y="444788"/>
                </a:cubicBezTo>
                <a:cubicBezTo>
                  <a:pt x="704933" y="444782"/>
                  <a:pt x="716715" y="455009"/>
                  <a:pt x="716723" y="467631"/>
                </a:cubicBezTo>
                <a:cubicBezTo>
                  <a:pt x="716723" y="467639"/>
                  <a:pt x="716723" y="467646"/>
                  <a:pt x="716723" y="467653"/>
                </a:cubicBezTo>
                <a:close/>
                <a:moveTo>
                  <a:pt x="938435" y="467653"/>
                </a:moveTo>
                <a:cubicBezTo>
                  <a:pt x="938435" y="480281"/>
                  <a:pt x="926651" y="490518"/>
                  <a:pt x="912114" y="490518"/>
                </a:cubicBezTo>
                <a:cubicBezTo>
                  <a:pt x="897579" y="490518"/>
                  <a:pt x="885794" y="480281"/>
                  <a:pt x="885794" y="467653"/>
                </a:cubicBezTo>
                <a:cubicBezTo>
                  <a:pt x="885794" y="455025"/>
                  <a:pt x="897579" y="444788"/>
                  <a:pt x="912114" y="444788"/>
                </a:cubicBezTo>
                <a:cubicBezTo>
                  <a:pt x="926644" y="444782"/>
                  <a:pt x="938427" y="455009"/>
                  <a:pt x="938435" y="467631"/>
                </a:cubicBezTo>
                <a:cubicBezTo>
                  <a:pt x="938435" y="467639"/>
                  <a:pt x="938435" y="467646"/>
                  <a:pt x="938435" y="467653"/>
                </a:cubicBezTo>
                <a:close/>
                <a:moveTo>
                  <a:pt x="1160145" y="467653"/>
                </a:moveTo>
                <a:cubicBezTo>
                  <a:pt x="1160145" y="480281"/>
                  <a:pt x="1148361" y="490518"/>
                  <a:pt x="1133824" y="490518"/>
                </a:cubicBezTo>
                <a:cubicBezTo>
                  <a:pt x="1119288" y="490518"/>
                  <a:pt x="1107504" y="480281"/>
                  <a:pt x="1107504" y="467653"/>
                </a:cubicBezTo>
                <a:cubicBezTo>
                  <a:pt x="1107504" y="455025"/>
                  <a:pt x="1119288" y="444788"/>
                  <a:pt x="1133824" y="444788"/>
                </a:cubicBezTo>
                <a:cubicBezTo>
                  <a:pt x="1148353" y="444803"/>
                  <a:pt x="1160129" y="455031"/>
                  <a:pt x="1160145" y="467653"/>
                </a:cubicBezTo>
                <a:close/>
                <a:moveTo>
                  <a:pt x="51650" y="615945"/>
                </a:moveTo>
                <a:cubicBezTo>
                  <a:pt x="51650" y="628573"/>
                  <a:pt x="39866" y="638810"/>
                  <a:pt x="25329" y="638810"/>
                </a:cubicBezTo>
                <a:cubicBezTo>
                  <a:pt x="10793" y="638810"/>
                  <a:pt x="-991" y="628573"/>
                  <a:pt x="-991" y="615945"/>
                </a:cubicBezTo>
                <a:cubicBezTo>
                  <a:pt x="-991" y="603317"/>
                  <a:pt x="10793" y="593081"/>
                  <a:pt x="25329" y="593081"/>
                </a:cubicBezTo>
                <a:cubicBezTo>
                  <a:pt x="39860" y="593074"/>
                  <a:pt x="51642" y="603301"/>
                  <a:pt x="51650" y="615923"/>
                </a:cubicBezTo>
                <a:cubicBezTo>
                  <a:pt x="51650" y="615930"/>
                  <a:pt x="51650" y="615937"/>
                  <a:pt x="51650" y="615945"/>
                </a:cubicBezTo>
                <a:close/>
                <a:moveTo>
                  <a:pt x="273361" y="615945"/>
                </a:moveTo>
                <a:cubicBezTo>
                  <a:pt x="273361" y="628573"/>
                  <a:pt x="261577" y="638810"/>
                  <a:pt x="247041" y="638810"/>
                </a:cubicBezTo>
                <a:cubicBezTo>
                  <a:pt x="232505" y="638810"/>
                  <a:pt x="220720" y="628573"/>
                  <a:pt x="220720" y="615945"/>
                </a:cubicBezTo>
                <a:cubicBezTo>
                  <a:pt x="220720" y="603317"/>
                  <a:pt x="232505" y="593081"/>
                  <a:pt x="247041" y="593081"/>
                </a:cubicBezTo>
                <a:cubicBezTo>
                  <a:pt x="261569" y="593095"/>
                  <a:pt x="273345" y="603324"/>
                  <a:pt x="273361" y="615945"/>
                </a:cubicBezTo>
                <a:close/>
                <a:moveTo>
                  <a:pt x="495012" y="615945"/>
                </a:moveTo>
                <a:cubicBezTo>
                  <a:pt x="495012" y="628573"/>
                  <a:pt x="483227" y="638810"/>
                  <a:pt x="468691" y="638810"/>
                </a:cubicBezTo>
                <a:cubicBezTo>
                  <a:pt x="454155" y="638810"/>
                  <a:pt x="442371" y="628573"/>
                  <a:pt x="442371" y="615945"/>
                </a:cubicBezTo>
                <a:cubicBezTo>
                  <a:pt x="442371" y="603317"/>
                  <a:pt x="454155" y="593081"/>
                  <a:pt x="468691" y="593081"/>
                </a:cubicBezTo>
                <a:cubicBezTo>
                  <a:pt x="483220" y="593074"/>
                  <a:pt x="495003" y="603301"/>
                  <a:pt x="495012" y="615923"/>
                </a:cubicBezTo>
                <a:cubicBezTo>
                  <a:pt x="495012" y="615930"/>
                  <a:pt x="495012" y="615937"/>
                  <a:pt x="495012" y="615945"/>
                </a:cubicBezTo>
                <a:close/>
                <a:moveTo>
                  <a:pt x="716723" y="615945"/>
                </a:moveTo>
                <a:cubicBezTo>
                  <a:pt x="716723" y="628573"/>
                  <a:pt x="704939" y="638810"/>
                  <a:pt x="690403" y="638810"/>
                </a:cubicBezTo>
                <a:cubicBezTo>
                  <a:pt x="675866" y="638810"/>
                  <a:pt x="664082" y="628573"/>
                  <a:pt x="664082" y="615945"/>
                </a:cubicBezTo>
                <a:cubicBezTo>
                  <a:pt x="664082" y="603317"/>
                  <a:pt x="675866" y="593081"/>
                  <a:pt x="690403" y="593081"/>
                </a:cubicBezTo>
                <a:cubicBezTo>
                  <a:pt x="704933" y="593074"/>
                  <a:pt x="716715" y="603301"/>
                  <a:pt x="716723" y="615923"/>
                </a:cubicBezTo>
                <a:cubicBezTo>
                  <a:pt x="716723" y="615930"/>
                  <a:pt x="716723" y="615937"/>
                  <a:pt x="716723" y="615945"/>
                </a:cubicBezTo>
                <a:close/>
                <a:moveTo>
                  <a:pt x="938435" y="615945"/>
                </a:moveTo>
                <a:cubicBezTo>
                  <a:pt x="938435" y="628573"/>
                  <a:pt x="926651" y="638810"/>
                  <a:pt x="912114" y="638810"/>
                </a:cubicBezTo>
                <a:cubicBezTo>
                  <a:pt x="897579" y="638810"/>
                  <a:pt x="885794" y="628573"/>
                  <a:pt x="885794" y="615945"/>
                </a:cubicBezTo>
                <a:cubicBezTo>
                  <a:pt x="885794" y="603317"/>
                  <a:pt x="897579" y="593081"/>
                  <a:pt x="912114" y="593081"/>
                </a:cubicBezTo>
                <a:cubicBezTo>
                  <a:pt x="926644" y="593074"/>
                  <a:pt x="938427" y="603301"/>
                  <a:pt x="938435" y="615923"/>
                </a:cubicBezTo>
                <a:cubicBezTo>
                  <a:pt x="938435" y="615930"/>
                  <a:pt x="938435" y="615937"/>
                  <a:pt x="938435" y="615945"/>
                </a:cubicBezTo>
                <a:close/>
                <a:moveTo>
                  <a:pt x="1160145" y="615945"/>
                </a:moveTo>
                <a:cubicBezTo>
                  <a:pt x="1160145" y="628573"/>
                  <a:pt x="1148361" y="638810"/>
                  <a:pt x="1133824" y="638810"/>
                </a:cubicBezTo>
                <a:cubicBezTo>
                  <a:pt x="1119288" y="638810"/>
                  <a:pt x="1107504" y="628573"/>
                  <a:pt x="1107504" y="615945"/>
                </a:cubicBezTo>
                <a:cubicBezTo>
                  <a:pt x="1107504" y="603317"/>
                  <a:pt x="1119288" y="593081"/>
                  <a:pt x="1133824" y="593081"/>
                </a:cubicBezTo>
                <a:cubicBezTo>
                  <a:pt x="1148353" y="593095"/>
                  <a:pt x="1160129" y="603324"/>
                  <a:pt x="1160145" y="615945"/>
                </a:cubicBezTo>
                <a:close/>
              </a:path>
            </a:pathLst>
          </a:custGeom>
          <a:solidFill>
            <a:srgbClr val="FFFFFF"/>
          </a:solidFill>
        </p:spPr>
      </p:sp>
      <p:pic>
        <p:nvPicPr>
          <p:cNvPr id="7" name="Image 2" descr="https://kimi-img.moonshot.cn/pub/slides/slides_tmpl/image/25-09-30-16:32:25-d3dpb68s8jdo4os5dh1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290" y="1294765"/>
            <a:ext cx="5430520" cy="4714875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09-30-16:31:50-d3dpatgs8jdo4os5dgb0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-4251" t="-10515" r="-1259" b="-11753"/>
          <a:stretch>
            <a:fillRect/>
          </a:stretch>
        </p:blipFill>
        <p:spPr>
          <a:xfrm>
            <a:off x="743585" y="5060950"/>
            <a:ext cx="2561590" cy="753110"/>
          </a:xfrm>
          <a:prstGeom prst="rect">
            <a:avLst/>
          </a:prstGeom>
        </p:spPr>
      </p:pic>
      <p:sp>
        <p:nvSpPr>
          <p:cNvPr id="9" name="Text 3"/>
          <p:cNvSpPr/>
          <p:nvPr>
            <p:custDataLst>
              <p:tags r:id="rId7"/>
            </p:custDataLst>
          </p:nvPr>
        </p:nvSpPr>
        <p:spPr>
          <a:xfrm>
            <a:off x="743585" y="5234305"/>
            <a:ext cx="256159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汇报人: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蒲俊霖</a:t>
            </a: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0" name="Image 4" descr="https://kimi-img.moonshot.cn/pub/slides/slides_tmpl/image/25-09-30-16:31:50-d3dpatgs8jdo4os5dgb0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6"/>
          <a:srcRect l="-3093" t="-7577" r="-2849" b="-8754"/>
          <a:stretch>
            <a:fillRect/>
          </a:stretch>
        </p:blipFill>
        <p:spPr>
          <a:xfrm>
            <a:off x="3312160" y="5060950"/>
            <a:ext cx="2702560" cy="753110"/>
          </a:xfrm>
          <a:prstGeom prst="rect">
            <a:avLst/>
          </a:prstGeom>
        </p:spPr>
      </p:pic>
      <p:sp>
        <p:nvSpPr>
          <p:cNvPr id="11" name="Text 4"/>
          <p:cNvSpPr/>
          <p:nvPr>
            <p:custDataLst>
              <p:tags r:id="rId9"/>
            </p:custDataLst>
          </p:nvPr>
        </p:nvSpPr>
        <p:spPr>
          <a:xfrm>
            <a:off x="3395980" y="5234305"/>
            <a:ext cx="256222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时间:2026/04/05</a:t>
            </a:r>
            <a:endParaRPr lang="en-US" sz="1600" dirty="0"/>
          </a:p>
        </p:txBody>
      </p:sp>
      <p:pic>
        <p:nvPicPr>
          <p:cNvPr id="12" name="Image 4" descr="https://kimi-img.moonshot.cn/pub/slides/slides_tmpl/image/25-09-30-16:31:50-d3dpatgs8jdo4os5dgb0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6">
            <a:alphaModFix amt="76000"/>
          </a:blip>
          <a:srcRect l="-3093" t="-7577" r="-2849" b="-8754"/>
          <a:stretch>
            <a:fillRect/>
          </a:stretch>
        </p:blipFill>
        <p:spPr>
          <a:xfrm>
            <a:off x="743585" y="5805805"/>
            <a:ext cx="6132830" cy="8420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311910" y="5913755"/>
            <a:ext cx="5236845" cy="588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  <a:hlinkClick r:id="rId11" action="ppaction://hlinkfile"/>
              </a:rPr>
              <a:t>GitHub：github.com/PJL694/taobao-order-analysis-694       </a:t>
            </a:r>
            <a:r>
              <a:rPr lang="en-US" altLang="zh-CN">
                <a:solidFill>
                  <a:schemeClr val="bg1"/>
                </a:solidFill>
              </a:rPr>
              <a:t>                                       </a:t>
            </a:r>
            <a:r>
              <a:rPr lang="zh-CN" altLang="en-US" sz="900">
                <a:solidFill>
                  <a:schemeClr val="bg1"/>
                </a:solidFill>
                <a:sym typeface="+mn-ea"/>
              </a:rPr>
              <a:t>（完整代码与分析报告见</a:t>
            </a:r>
            <a:r>
              <a:rPr lang="en-US" altLang="zh-CN" sz="900">
                <a:solidFill>
                  <a:schemeClr val="bg1"/>
                </a:solidFill>
                <a:sym typeface="+mn-ea"/>
              </a:rPr>
              <a:t>GitHub</a:t>
            </a:r>
            <a:r>
              <a:rPr lang="zh-CN" altLang="en-US" sz="900">
                <a:solidFill>
                  <a:schemeClr val="bg1"/>
                </a:solidFill>
                <a:sym typeface="+mn-ea"/>
              </a:rPr>
              <a:t>仓库）</a:t>
            </a:r>
            <a:endParaRPr lang="zh-CN" altLang="en-US" sz="900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 sz="1200">
                <a:solidFill>
                  <a:schemeClr val="bg1"/>
                </a:solidFill>
              </a:rPr>
              <a:t>                                                                     </a:t>
            </a:r>
            <a:endParaRPr lang="zh-CN" altLang="en-US" sz="10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59.3,&quot;left&quot;:58.55,&quot;top&quot;:398.5,&quot;width&quot;:415.05}"/>
</p:tagLst>
</file>

<file path=ppt/tags/tag2.xml><?xml version="1.0" encoding="utf-8"?>
<p:tagLst xmlns:p="http://schemas.openxmlformats.org/presentationml/2006/main">
  <p:tag name="KSO_WM_DIAGRAM_VIRTUALLY_FRAME" val="{&quot;height&quot;:59.3,&quot;left&quot;:58.55,&quot;top&quot;:398.5,&quot;width&quot;:415.05}"/>
</p:tagLst>
</file>

<file path=ppt/tags/tag3.xml><?xml version="1.0" encoding="utf-8"?>
<p:tagLst xmlns:p="http://schemas.openxmlformats.org/presentationml/2006/main">
  <p:tag name="KSO_WM_DIAGRAM_VIRTUALLY_FRAME" val="{&quot;height&quot;:59.3,&quot;left&quot;:58.55,&quot;top&quot;:398.5,&quot;width&quot;:415.05}"/>
</p:tagLst>
</file>

<file path=ppt/tags/tag4.xml><?xml version="1.0" encoding="utf-8"?>
<p:tagLst xmlns:p="http://schemas.openxmlformats.org/presentationml/2006/main">
  <p:tag name="KSO_WM_DIAGRAM_VIRTUALLY_FRAME" val="{&quot;height&quot;:59.3,&quot;left&quot;:58.55,&quot;top&quot;:398.5,&quot;width&quot;:415.05}"/>
</p:tagLst>
</file>

<file path=ppt/tags/tag5.xml><?xml version="1.0" encoding="utf-8"?>
<p:tagLst xmlns:p="http://schemas.openxmlformats.org/presentationml/2006/main">
  <p:tag name="KSO_WM_DIAGRAM_VIRTUALLY_FRAME" val="{&quot;height&quot;:335.6,&quot;left&quot;:75.4,&quot;top&quot;:141.3,&quot;width&quot;:795.4}"/>
</p:tagLst>
</file>

<file path=ppt/tags/tag6.xml><?xml version="1.0" encoding="utf-8"?>
<p:tagLst xmlns:p="http://schemas.openxmlformats.org/presentationml/2006/main">
  <p:tag name="KSO_WM_DIAGRAM_VIRTUALLY_FRAME" val="{&quot;height&quot;:335.6,&quot;left&quot;:75.4,&quot;top&quot;:141.3,&quot;width&quot;:795.4}"/>
</p:tagLst>
</file>

<file path=ppt/tags/tag7.xml><?xml version="1.0" encoding="utf-8"?>
<p:tagLst xmlns:p="http://schemas.openxmlformats.org/presentationml/2006/main">
  <p:tag name="KSO_WM_DIAGRAM_VIRTUALLY_FRAME" val="{&quot;height&quot;:335.6,&quot;left&quot;:75.4,&quot;top&quot;:141.3,&quot;width&quot;:795.4}"/>
</p:tagLst>
</file>

<file path=ppt/tags/tag8.xml><?xml version="1.0" encoding="utf-8"?>
<p:tagLst xmlns:p="http://schemas.openxmlformats.org/presentationml/2006/main">
  <p:tag name="KSO_WM_DIAGRAM_VIRTUALLY_FRAME" val="{&quot;height&quot;:335.6,&quot;left&quot;:75.4,&quot;top&quot;:141.3,&quot;width&quot;:795.4}"/>
</p:tagLst>
</file>

<file path=ppt/tags/tag9.xml><?xml version="1.0" encoding="utf-8"?>
<p:tagLst xmlns:p="http://schemas.openxmlformats.org/presentationml/2006/main">
  <p:tag name="KSO_WM_DIAGRAM_VIRTUALLY_FRAME" val="{&quot;height&quot;:335.6,&quot;left&quot;:75.4,&quot;top&quot;:141.3,&quot;width&quot;:795.4}"/>
</p:tagLst>
</file>

<file path=ppt/tags/tag10.xml><?xml version="1.0" encoding="utf-8"?>
<p:tagLst xmlns:p="http://schemas.openxmlformats.org/presentationml/2006/main">
  <p:tag name="KSO_WM_DIAGRAM_VIRTUALLY_FRAME" val="{&quot;height&quot;:335.6,&quot;left&quot;:75.4,&quot;top&quot;:141.3,&quot;width&quot;:795.4}"/>
</p:tagLst>
</file>

<file path=ppt/tags/tag11.xml><?xml version="1.0" encoding="utf-8"?>
<p:tagLst xmlns:p="http://schemas.openxmlformats.org/presentationml/2006/main">
  <p:tag name="KSO_WM_DIAGRAM_VIRTUALLY_FRAME" val="{&quot;height&quot;:366.78125984251966,&quot;left&quot;:53.2,&quot;top&quot;:114.25,&quot;width&quot;:866.2}"/>
</p:tagLst>
</file>

<file path=ppt/tags/tag12.xml><?xml version="1.0" encoding="utf-8"?>
<p:tagLst xmlns:p="http://schemas.openxmlformats.org/presentationml/2006/main">
  <p:tag name="KSO_WM_DIAGRAM_VIRTUALLY_FRAME" val="{&quot;height&quot;:366.78125984251966,&quot;left&quot;:53.2,&quot;top&quot;:114.25,&quot;width&quot;:866.2}"/>
</p:tagLst>
</file>

<file path=ppt/tags/tag13.xml><?xml version="1.0" encoding="utf-8"?>
<p:tagLst xmlns:p="http://schemas.openxmlformats.org/presentationml/2006/main">
  <p:tag name="KSO_WM_DIAGRAM_VIRTUALLY_FRAME" val="{&quot;height&quot;:366.78125984251966,&quot;left&quot;:53.2,&quot;top&quot;:114.25,&quot;width&quot;:866.2}"/>
</p:tagLst>
</file>

<file path=ppt/tags/tag14.xml><?xml version="1.0" encoding="utf-8"?>
<p:tagLst xmlns:p="http://schemas.openxmlformats.org/presentationml/2006/main">
  <p:tag name="KSO_WM_DIAGRAM_VIRTUALLY_FRAME" val="{&quot;height&quot;:366.78125984251966,&quot;left&quot;:53.2,&quot;top&quot;:114.25,&quot;width&quot;:866.2}"/>
</p:tagLst>
</file>

<file path=ppt/tags/tag15.xml><?xml version="1.0" encoding="utf-8"?>
<p:tagLst xmlns:p="http://schemas.openxmlformats.org/presentationml/2006/main">
  <p:tag name="KSO_WM_DIAGRAM_VIRTUALLY_FRAME" val="{&quot;height&quot;:366.78125984251966,&quot;left&quot;:53.2,&quot;top&quot;:114.25,&quot;width&quot;:866.2}"/>
</p:tagLst>
</file>

<file path=ppt/tags/tag16.xml><?xml version="1.0" encoding="utf-8"?>
<p:tagLst xmlns:p="http://schemas.openxmlformats.org/presentationml/2006/main">
  <p:tag name="KSO_WM_DIAGRAM_VIRTUALLY_FRAME" val="{&quot;height&quot;:366.78125984251966,&quot;left&quot;:53.2,&quot;top&quot;:114.25,&quot;width&quot;:866.2}"/>
</p:tagLst>
</file>

<file path=ppt/tags/tag17.xml><?xml version="1.0" encoding="utf-8"?>
<p:tagLst xmlns:p="http://schemas.openxmlformats.org/presentationml/2006/main">
  <p:tag name="KSO_WM_DIAGRAM_VIRTUALLY_FRAME" val="{&quot;height&quot;:366.78125984251966,&quot;left&quot;:53.2,&quot;top&quot;:114.25,&quot;width&quot;:866.2}"/>
</p:tagLst>
</file>

<file path=ppt/tags/tag18.xml><?xml version="1.0" encoding="utf-8"?>
<p:tagLst xmlns:p="http://schemas.openxmlformats.org/presentationml/2006/main">
  <p:tag name="KSO_WM_DIAGRAM_VIRTUALLY_FRAME" val="{&quot;height&quot;:366.78125984251966,&quot;left&quot;:53.2,&quot;top&quot;:114.25,&quot;width&quot;:866.2}"/>
</p:tagLst>
</file>

<file path=ppt/tags/tag19.xml><?xml version="1.0" encoding="utf-8"?>
<p:tagLst xmlns:p="http://schemas.openxmlformats.org/presentationml/2006/main">
  <p:tag name="KSO_WM_DIAGRAM_VIRTUALLY_FRAME" val="{&quot;height&quot;:366.78125984251966,&quot;left&quot;:53.2,&quot;top&quot;:114.25,&quot;width&quot;:866.2}"/>
</p:tagLst>
</file>

<file path=ppt/tags/tag20.xml><?xml version="1.0" encoding="utf-8"?>
<p:tagLst xmlns:p="http://schemas.openxmlformats.org/presentationml/2006/main">
  <p:tag name="KSO_WM_DIAGRAM_VIRTUALLY_FRAME" val="{&quot;height&quot;:366.78125984251966,&quot;left&quot;:53.2,&quot;top&quot;:114.25,&quot;width&quot;:866.2}"/>
</p:tagLst>
</file>

<file path=ppt/tags/tag21.xml><?xml version="1.0" encoding="utf-8"?>
<p:tagLst xmlns:p="http://schemas.openxmlformats.org/presentationml/2006/main">
  <p:tag name="KSO_WM_DIAGRAM_VIRTUALLY_FRAME" val="{&quot;height&quot;:366.78125984251966,&quot;left&quot;:53.2,&quot;top&quot;:114.25,&quot;width&quot;:866.2}"/>
</p:tagLst>
</file>

<file path=ppt/tags/tag22.xml><?xml version="1.0" encoding="utf-8"?>
<p:tagLst xmlns:p="http://schemas.openxmlformats.org/presentationml/2006/main">
  <p:tag name="KSO_WM_DIAGRAM_VIRTUALLY_FRAME" val="{&quot;height&quot;:349.45,&quot;left&quot;:66.7,&quot;top&quot;:135.4,&quot;width&quot;:832.6}"/>
</p:tagLst>
</file>

<file path=ppt/tags/tag23.xml><?xml version="1.0" encoding="utf-8"?>
<p:tagLst xmlns:p="http://schemas.openxmlformats.org/presentationml/2006/main">
  <p:tag name="KSO_WM_DIAGRAM_VIRTUALLY_FRAME" val="{&quot;height&quot;:349.45,&quot;left&quot;:66.7,&quot;top&quot;:135.4,&quot;width&quot;:832.6}"/>
</p:tagLst>
</file>

<file path=ppt/tags/tag24.xml><?xml version="1.0" encoding="utf-8"?>
<p:tagLst xmlns:p="http://schemas.openxmlformats.org/presentationml/2006/main">
  <p:tag name="KSO_WM_DIAGRAM_VIRTUALLY_FRAME" val="{&quot;height&quot;:349.45,&quot;left&quot;:66.7,&quot;top&quot;:135.4,&quot;width&quot;:832.6}"/>
</p:tagLst>
</file>

<file path=ppt/tags/tag25.xml><?xml version="1.0" encoding="utf-8"?>
<p:tagLst xmlns:p="http://schemas.openxmlformats.org/presentationml/2006/main">
  <p:tag name="KSO_WM_DIAGRAM_VIRTUALLY_FRAME" val="{&quot;height&quot;:349.45,&quot;left&quot;:66.7,&quot;top&quot;:135.4,&quot;width&quot;:832.6}"/>
</p:tagLst>
</file>

<file path=ppt/tags/tag26.xml><?xml version="1.0" encoding="utf-8"?>
<p:tagLst xmlns:p="http://schemas.openxmlformats.org/presentationml/2006/main">
  <p:tag name="KSO_WM_DIAGRAM_VIRTUALLY_FRAME" val="{&quot;height&quot;:349.45,&quot;left&quot;:66.7,&quot;top&quot;:135.4,&quot;width&quot;:832.6}"/>
</p:tagLst>
</file>

<file path=ppt/tags/tag27.xml><?xml version="1.0" encoding="utf-8"?>
<p:tagLst xmlns:p="http://schemas.openxmlformats.org/presentationml/2006/main">
  <p:tag name="KSO_WM_DIAGRAM_VIRTUALLY_FRAME" val="{&quot;height&quot;:349.45,&quot;left&quot;:66.7,&quot;top&quot;:135.4,&quot;width&quot;:832.6}"/>
</p:tagLst>
</file>

<file path=ppt/tags/tag28.xml><?xml version="1.0" encoding="utf-8"?>
<p:tagLst xmlns:p="http://schemas.openxmlformats.org/presentationml/2006/main">
  <p:tag name="KSO_WM_DIAGRAM_VIRTUALLY_FRAME" val="{&quot;height&quot;:349.45,&quot;left&quot;:66.7,&quot;top&quot;:135.4,&quot;width&quot;:832.6}"/>
</p:tagLst>
</file>

<file path=ppt/tags/tag29.xml><?xml version="1.0" encoding="utf-8"?>
<p:tagLst xmlns:p="http://schemas.openxmlformats.org/presentationml/2006/main">
  <p:tag name="KSO_WM_DIAGRAM_VIRTUALLY_FRAME" val="{&quot;height&quot;:349.45,&quot;left&quot;:66.7,&quot;top&quot;:135.4,&quot;width&quot;:832.6}"/>
</p:tagLst>
</file>

<file path=ppt/tags/tag30.xml><?xml version="1.0" encoding="utf-8"?>
<p:tagLst xmlns:p="http://schemas.openxmlformats.org/presentationml/2006/main">
  <p:tag name="KSO_WM_DIAGRAM_VIRTUALLY_FRAME" val="{&quot;height&quot;:349.45,&quot;left&quot;:66.7,&quot;top&quot;:135.4,&quot;width&quot;:832.6}"/>
</p:tagLst>
</file>

<file path=ppt/tags/tag31.xml><?xml version="1.0" encoding="utf-8"?>
<p:tagLst xmlns:p="http://schemas.openxmlformats.org/presentationml/2006/main">
  <p:tag name="KSO_WM_DIAGRAM_VIRTUALLY_FRAME" val="{&quot;height&quot;:400.85,&quot;left&quot;:0,&quot;top&quot;:101.9,&quot;width&quot;:959.8}"/>
</p:tagLst>
</file>

<file path=ppt/tags/tag32.xml><?xml version="1.0" encoding="utf-8"?>
<p:tagLst xmlns:p="http://schemas.openxmlformats.org/presentationml/2006/main">
  <p:tag name="KSO_WM_DIAGRAM_VIRTUALLY_FRAME" val="{&quot;height&quot;:400.85,&quot;left&quot;:0,&quot;top&quot;:101.9,&quot;width&quot;:959.8}"/>
</p:tagLst>
</file>

<file path=ppt/tags/tag33.xml><?xml version="1.0" encoding="utf-8"?>
<p:tagLst xmlns:p="http://schemas.openxmlformats.org/presentationml/2006/main">
  <p:tag name="KSO_WM_DIAGRAM_VIRTUALLY_FRAME" val="{&quot;height&quot;:400.85,&quot;left&quot;:0,&quot;top&quot;:101.9,&quot;width&quot;:959.8}"/>
</p:tagLst>
</file>

<file path=ppt/tags/tag34.xml><?xml version="1.0" encoding="utf-8"?>
<p:tagLst xmlns:p="http://schemas.openxmlformats.org/presentationml/2006/main">
  <p:tag name="KSO_WM_DIAGRAM_VIRTUALLY_FRAME" val="{&quot;height&quot;:400.85,&quot;left&quot;:0,&quot;top&quot;:101.9,&quot;width&quot;:959.8}"/>
</p:tagLst>
</file>

<file path=ppt/tags/tag35.xml><?xml version="1.0" encoding="utf-8"?>
<p:tagLst xmlns:p="http://schemas.openxmlformats.org/presentationml/2006/main">
  <p:tag name="KSO_WM_DIAGRAM_VIRTUALLY_FRAME" val="{&quot;height&quot;:400.55,&quot;left&quot;:0,&quot;top&quot;:101.9,&quot;width&quot;:959.8}"/>
</p:tagLst>
</file>

<file path=ppt/tags/tag36.xml><?xml version="1.0" encoding="utf-8"?>
<p:tagLst xmlns:p="http://schemas.openxmlformats.org/presentationml/2006/main">
  <p:tag name="KSO_WM_DIAGRAM_VIRTUALLY_FRAME" val="{&quot;height&quot;:400.85,&quot;left&quot;:0,&quot;top&quot;:101.9,&quot;width&quot;:959.8}"/>
</p:tagLst>
</file>

<file path=ppt/tags/tag37.xml><?xml version="1.0" encoding="utf-8"?>
<p:tagLst xmlns:p="http://schemas.openxmlformats.org/presentationml/2006/main">
  <p:tag name="KSO_WM_DIAGRAM_VIRTUALLY_FRAME" val="{&quot;height&quot;:400.55,&quot;left&quot;:0,&quot;top&quot;:101.9,&quot;width&quot;:959.8}"/>
</p:tagLst>
</file>

<file path=ppt/tags/tag38.xml><?xml version="1.0" encoding="utf-8"?>
<p:tagLst xmlns:p="http://schemas.openxmlformats.org/presentationml/2006/main">
  <p:tag name="KSO_WM_DIAGRAM_VIRTUALLY_FRAME" val="{&quot;height&quot;:400.85,&quot;left&quot;:0,&quot;top&quot;:101.9,&quot;width&quot;:959.8}"/>
</p:tagLst>
</file>

<file path=ppt/tags/tag39.xml><?xml version="1.0" encoding="utf-8"?>
<p:tagLst xmlns:p="http://schemas.openxmlformats.org/presentationml/2006/main">
  <p:tag name="KSO_WM_DIAGRAM_VIRTUALLY_FRAME" val="{&quot;height&quot;:400.85,&quot;left&quot;:0,&quot;top&quot;:101.9,&quot;width&quot;:959.8}"/>
</p:tagLst>
</file>

<file path=ppt/tags/tag40.xml><?xml version="1.0" encoding="utf-8"?>
<p:tagLst xmlns:p="http://schemas.openxmlformats.org/presentationml/2006/main">
  <p:tag name="KSO_WM_DIAGRAM_VIRTUALLY_FRAME" val="{&quot;height&quot;:400.55,&quot;left&quot;:0,&quot;top&quot;:101.9,&quot;width&quot;:959.8}"/>
</p:tagLst>
</file>

<file path=ppt/tags/tag41.xml><?xml version="1.0" encoding="utf-8"?>
<p:tagLst xmlns:p="http://schemas.openxmlformats.org/presentationml/2006/main">
  <p:tag name="KSO_WM_DIAGRAM_VIRTUALLY_FRAME" val="{&quot;height&quot;:400.85,&quot;left&quot;:0,&quot;top&quot;:101.9,&quot;width&quot;:959.8}"/>
</p:tagLst>
</file>

<file path=ppt/tags/tag42.xml><?xml version="1.0" encoding="utf-8"?>
<p:tagLst xmlns:p="http://schemas.openxmlformats.org/presentationml/2006/main">
  <p:tag name="KSO_WM_DIAGRAM_VIRTUALLY_FRAME" val="{&quot;height&quot;:400.85,&quot;left&quot;:0,&quot;top&quot;:101.9,&quot;width&quot;:959.8}"/>
</p:tagLst>
</file>

<file path=ppt/tags/tag43.xml><?xml version="1.0" encoding="utf-8"?>
<p:tagLst xmlns:p="http://schemas.openxmlformats.org/presentationml/2006/main">
  <p:tag name="KSO_WM_DIAGRAM_VIRTUALLY_FRAME" val="{&quot;height&quot;:400.85,&quot;left&quot;:0,&quot;top&quot;:101.9,&quot;width&quot;:959.8}"/>
</p:tagLst>
</file>

<file path=ppt/tags/tag44.xml><?xml version="1.0" encoding="utf-8"?>
<p:tagLst xmlns:p="http://schemas.openxmlformats.org/presentationml/2006/main">
  <p:tag name="KSO_WM_DIAGRAM_VIRTUALLY_FRAME" val="{&quot;height&quot;:400.85,&quot;left&quot;:0,&quot;top&quot;:101.9,&quot;width&quot;:959.8}"/>
</p:tagLst>
</file>

<file path=ppt/tags/tag45.xml><?xml version="1.0" encoding="utf-8"?>
<p:tagLst xmlns:p="http://schemas.openxmlformats.org/presentationml/2006/main">
  <p:tag name="KSO_WM_DIAGRAM_VIRTUALLY_FRAME" val="{&quot;height&quot;:400.85,&quot;left&quot;:0,&quot;top&quot;:101.9,&quot;width&quot;:959.8}"/>
</p:tagLst>
</file>

<file path=ppt/tags/tag46.xml><?xml version="1.0" encoding="utf-8"?>
<p:tagLst xmlns:p="http://schemas.openxmlformats.org/presentationml/2006/main">
  <p:tag name="KSO_WM_DIAGRAM_VIRTUALLY_FRAME" val="{&quot;height&quot;:400.85,&quot;left&quot;:0,&quot;top&quot;:101.9,&quot;width&quot;:959.8}"/>
</p:tagLst>
</file>

<file path=ppt/tags/tag47.xml><?xml version="1.0" encoding="utf-8"?>
<p:tagLst xmlns:p="http://schemas.openxmlformats.org/presentationml/2006/main">
  <p:tag name="KSO_WM_DIAGRAM_VIRTUALLY_FRAME" val="{&quot;height&quot;:388.45,&quot;left&quot;:46.75,&quot;top&quot;:111.65,&quot;width&quot;:879.15}"/>
</p:tagLst>
</file>

<file path=ppt/tags/tag48.xml><?xml version="1.0" encoding="utf-8"?>
<p:tagLst xmlns:p="http://schemas.openxmlformats.org/presentationml/2006/main">
  <p:tag name="KSO_WM_DIAGRAM_VIRTUALLY_FRAME" val="{&quot;height&quot;:388.45,&quot;left&quot;:46.75,&quot;top&quot;:111.65,&quot;width&quot;:879.15}"/>
</p:tagLst>
</file>

<file path=ppt/tags/tag49.xml><?xml version="1.0" encoding="utf-8"?>
<p:tagLst xmlns:p="http://schemas.openxmlformats.org/presentationml/2006/main">
  <p:tag name="KSO_WM_DIAGRAM_VIRTUALLY_FRAME" val="{&quot;height&quot;:383.45,&quot;left&quot;:58.7,&quot;top&quot;:116.15,&quot;width&quot;:851.55}"/>
</p:tagLst>
</file>

<file path=ppt/tags/tag50.xml><?xml version="1.0" encoding="utf-8"?>
<p:tagLst xmlns:p="http://schemas.openxmlformats.org/presentationml/2006/main">
  <p:tag name="KSO_WM_DIAGRAM_VIRTUALLY_FRAME" val="{&quot;height&quot;:388.45,&quot;left&quot;:46.75,&quot;top&quot;:111.65,&quot;width&quot;:879.15}"/>
</p:tagLst>
</file>

<file path=ppt/tags/tag51.xml><?xml version="1.0" encoding="utf-8"?>
<p:tagLst xmlns:p="http://schemas.openxmlformats.org/presentationml/2006/main">
  <p:tag name="KSO_WM_DIAGRAM_VIRTUALLY_FRAME" val="{&quot;height&quot;:388.45,&quot;left&quot;:46.75,&quot;top&quot;:111.65,&quot;width&quot;:879.15}"/>
</p:tagLst>
</file>

<file path=ppt/tags/tag52.xml><?xml version="1.0" encoding="utf-8"?>
<p:tagLst xmlns:p="http://schemas.openxmlformats.org/presentationml/2006/main">
  <p:tag name="KSO_WM_DIAGRAM_VIRTUALLY_FRAME" val="{&quot;height&quot;:388.45,&quot;left&quot;:46.75,&quot;top&quot;:111.65,&quot;width&quot;:879.15}"/>
</p:tagLst>
</file>

<file path=ppt/tags/tag53.xml><?xml version="1.0" encoding="utf-8"?>
<p:tagLst xmlns:p="http://schemas.openxmlformats.org/presentationml/2006/main">
  <p:tag name="KSO_WM_DIAGRAM_VIRTUALLY_FRAME" val="{&quot;height&quot;:388.45,&quot;left&quot;:46.75,&quot;top&quot;:111.65,&quot;width&quot;:879.15}"/>
</p:tagLst>
</file>

<file path=ppt/tags/tag54.xml><?xml version="1.0" encoding="utf-8"?>
<p:tagLst xmlns:p="http://schemas.openxmlformats.org/presentationml/2006/main">
  <p:tag name="KSO_WM_DIAGRAM_VIRTUALLY_FRAME" val="{&quot;height&quot;:383.45,&quot;left&quot;:46.75,&quot;top&quot;:116.15,&quot;width&quot;:865.95}"/>
</p:tagLst>
</file>

<file path=ppt/tags/tag55.xml><?xml version="1.0" encoding="utf-8"?>
<p:tagLst xmlns:p="http://schemas.openxmlformats.org/presentationml/2006/main">
  <p:tag name="KSO_WM_DIAGRAM_VIRTUALLY_FRAME" val="{&quot;height&quot;:388.45,&quot;left&quot;:46.75,&quot;top&quot;:111.65,&quot;width&quot;:879.15}"/>
</p:tagLst>
</file>

<file path=ppt/tags/tag56.xml><?xml version="1.0" encoding="utf-8"?>
<p:tagLst xmlns:p="http://schemas.openxmlformats.org/presentationml/2006/main">
  <p:tag name="KSO_WM_DIAGRAM_VIRTUALLY_FRAME" val="{&quot;height&quot;:388.45,&quot;left&quot;:46.75,&quot;top&quot;:111.65,&quot;width&quot;:879.15}"/>
</p:tagLst>
</file>

<file path=ppt/tags/tag57.xml><?xml version="1.0" encoding="utf-8"?>
<p:tagLst xmlns:p="http://schemas.openxmlformats.org/presentationml/2006/main">
  <p:tag name="KSO_WM_DIAGRAM_VIRTUALLY_FRAME" val="{&quot;height&quot;:388.45,&quot;left&quot;:46.75,&quot;top&quot;:111.65,&quot;width&quot;:879.15}"/>
</p:tagLst>
</file>

<file path=ppt/tags/tag58.xml><?xml version="1.0" encoding="utf-8"?>
<p:tagLst xmlns:p="http://schemas.openxmlformats.org/presentationml/2006/main">
  <p:tag name="KSO_WM_DIAGRAM_VIRTUALLY_FRAME" val="{&quot;height&quot;:388.45,&quot;left&quot;:46.75,&quot;top&quot;:111.65,&quot;width&quot;:879.15}"/>
</p:tagLst>
</file>

<file path=ppt/tags/tag59.xml><?xml version="1.0" encoding="utf-8"?>
<p:tagLst xmlns:p="http://schemas.openxmlformats.org/presentationml/2006/main">
  <p:tag name="KSO_WM_DIAGRAM_VIRTUALLY_FRAME" val="{&quot;height&quot;:388.45,&quot;left&quot;:46.75,&quot;top&quot;:111.65,&quot;width&quot;:879.15}"/>
</p:tagLst>
</file>

<file path=ppt/tags/tag60.xml><?xml version="1.0" encoding="utf-8"?>
<p:tagLst xmlns:p="http://schemas.openxmlformats.org/presentationml/2006/main">
  <p:tag name="KSO_WM_DIAGRAM_VIRTUALLY_FRAME" val="{&quot;height&quot;:364.87503937007875,&quot;left&quot;:85.2,&quot;top&quot;:118.1,&quot;width&quot;:478.4}"/>
</p:tagLst>
</file>

<file path=ppt/tags/tag61.xml><?xml version="1.0" encoding="utf-8"?>
<p:tagLst xmlns:p="http://schemas.openxmlformats.org/presentationml/2006/main">
  <p:tag name="KSO_WM_DIAGRAM_VIRTUALLY_FRAME" val="{&quot;height&quot;:364.87503937007875,&quot;left&quot;:85.2,&quot;top&quot;:118.1,&quot;width&quot;:478.4}"/>
</p:tagLst>
</file>

<file path=ppt/tags/tag62.xml><?xml version="1.0" encoding="utf-8"?>
<p:tagLst xmlns:p="http://schemas.openxmlformats.org/presentationml/2006/main">
  <p:tag name="KSO_WM_DIAGRAM_VIRTUALLY_FRAME" val="{&quot;height&quot;:364.87503937007875,&quot;left&quot;:85.2,&quot;top&quot;:118.1,&quot;width&quot;:478.4}"/>
</p:tagLst>
</file>

<file path=ppt/tags/tag63.xml><?xml version="1.0" encoding="utf-8"?>
<p:tagLst xmlns:p="http://schemas.openxmlformats.org/presentationml/2006/main">
  <p:tag name="KSO_WM_DIAGRAM_VIRTUALLY_FRAME" val="{&quot;height&quot;:364.87503937007875,&quot;left&quot;:85.2,&quot;top&quot;:118.1,&quot;width&quot;:478.4}"/>
</p:tagLst>
</file>

<file path=ppt/tags/tag64.xml><?xml version="1.0" encoding="utf-8"?>
<p:tagLst xmlns:p="http://schemas.openxmlformats.org/presentationml/2006/main">
  <p:tag name="KSO_WM_DIAGRAM_VIRTUALLY_FRAME" val="{&quot;height&quot;:364.87503937007875,&quot;left&quot;:85.2,&quot;top&quot;:118.1,&quot;width&quot;:478.4}"/>
</p:tagLst>
</file>

<file path=ppt/tags/tag65.xml><?xml version="1.0" encoding="utf-8"?>
<p:tagLst xmlns:p="http://schemas.openxmlformats.org/presentationml/2006/main">
  <p:tag name="KSO_WM_DIAGRAM_VIRTUALLY_FRAME" val="{&quot;height&quot;:364.87503937007875,&quot;left&quot;:85.2,&quot;top&quot;:118.1,&quot;width&quot;:478.4}"/>
</p:tagLst>
</file>

<file path=ppt/tags/tag66.xml><?xml version="1.0" encoding="utf-8"?>
<p:tagLst xmlns:p="http://schemas.openxmlformats.org/presentationml/2006/main">
  <p:tag name="KSO_WM_DIAGRAM_VIRTUALLY_FRAME" val="{&quot;height&quot;:364.87503937007875,&quot;left&quot;:85.2,&quot;top&quot;:118.1,&quot;width&quot;:478.4}"/>
</p:tagLst>
</file>

<file path=ppt/tags/tag67.xml><?xml version="1.0" encoding="utf-8"?>
<p:tagLst xmlns:p="http://schemas.openxmlformats.org/presentationml/2006/main">
  <p:tag name="KSO_WM_DIAGRAM_VIRTUALLY_FRAME" val="{&quot;height&quot;:364.87503937007875,&quot;left&quot;:85.2,&quot;top&quot;:118.1,&quot;width&quot;:478.4}"/>
</p:tagLst>
</file>

<file path=ppt/tags/tag68.xml><?xml version="1.0" encoding="utf-8"?>
<p:tagLst xmlns:p="http://schemas.openxmlformats.org/presentationml/2006/main">
  <p:tag name="KSO_WM_DIAGRAM_VIRTUALLY_FRAME" val="{&quot;height&quot;:364.87503937007875,&quot;left&quot;:85.2,&quot;top&quot;:118.1,&quot;width&quot;:478.4}"/>
</p:tagLst>
</file>

<file path=ppt/tags/tag69.xml><?xml version="1.0" encoding="utf-8"?>
<p:tagLst xmlns:p="http://schemas.openxmlformats.org/presentationml/2006/main">
  <p:tag name="KSO_WM_DIAGRAM_VIRTUALLY_FRAME" val="{&quot;height&quot;:364.87503937007875,&quot;left&quot;:85.2,&quot;top&quot;:118.1,&quot;width&quot;:478.4}"/>
</p:tagLst>
</file>

<file path=ppt/tags/tag70.xml><?xml version="1.0" encoding="utf-8"?>
<p:tagLst xmlns:p="http://schemas.openxmlformats.org/presentationml/2006/main">
  <p:tag name="KSO_WM_DIAGRAM_VIRTUALLY_FRAME" val="{&quot;height&quot;:364.87503937007875,&quot;left&quot;:85.2,&quot;top&quot;:118.1,&quot;width&quot;:478.4}"/>
</p:tagLst>
</file>

<file path=ppt/tags/tag71.xml><?xml version="1.0" encoding="utf-8"?>
<p:tagLst xmlns:p="http://schemas.openxmlformats.org/presentationml/2006/main">
  <p:tag name="KSO_WM_DIAGRAM_VIRTUALLY_FRAME" val="{&quot;height&quot;:59.3,&quot;left&quot;:58.55,&quot;top&quot;:398.5,&quot;width&quot;:415.05}"/>
</p:tagLst>
</file>

<file path=ppt/tags/tag72.xml><?xml version="1.0" encoding="utf-8"?>
<p:tagLst xmlns:p="http://schemas.openxmlformats.org/presentationml/2006/main">
  <p:tag name="KSO_WM_DIAGRAM_VIRTUALLY_FRAME" val="{&quot;height&quot;:59.3,&quot;left&quot;:58.55,&quot;top&quot;:398.5,&quot;width&quot;:415.05}"/>
</p:tagLst>
</file>

<file path=ppt/tags/tag73.xml><?xml version="1.0" encoding="utf-8"?>
<p:tagLst xmlns:p="http://schemas.openxmlformats.org/presentationml/2006/main">
  <p:tag name="KSO_WM_DIAGRAM_VIRTUALLY_FRAME" val="{&quot;height&quot;:59.3,&quot;left&quot;:58.55,&quot;top&quot;:398.5,&quot;width&quot;:415.05}"/>
</p:tagLst>
</file>

<file path=ppt/tags/tag74.xml><?xml version="1.0" encoding="utf-8"?>
<p:tagLst xmlns:p="http://schemas.openxmlformats.org/presentationml/2006/main">
  <p:tag name="KSO_WM_DIAGRAM_VIRTUALLY_FRAME" val="{&quot;height&quot;:59.3,&quot;left&quot;:58.55,&quot;top&quot;:398.5,&quot;width&quot;:415.05}"/>
</p:tagLst>
</file>

<file path=ppt/tags/tag75.xml><?xml version="1.0" encoding="utf-8"?>
<p:tagLst xmlns:p="http://schemas.openxmlformats.org/presentationml/2006/main">
  <p:tag name="KSO_WM_DIAGRAM_VIRTUALLY_FRAME" val="{&quot;height&quot;:59.3,&quot;left&quot;:58.55,&quot;top&quot;:398.5,&quot;width&quot;:415.0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2138</Words>
  <Application>WPS 演示</Application>
  <PresentationFormat>On-screen Show (16:9)</PresentationFormat>
  <Paragraphs>195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MiSans</vt:lpstr>
      <vt:lpstr>MiSans</vt:lpstr>
      <vt:lpstr>Calibri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运营商用户行为分析与用户分群</dc:title>
  <dc:creator>Kimi</dc:creator>
  <dc:subject>运营商用户行为分析与用户分群</dc:subject>
  <cp:lastModifiedBy>若星辰不染</cp:lastModifiedBy>
  <cp:revision>5</cp:revision>
  <dcterms:created xsi:type="dcterms:W3CDTF">2026-05-08T01:52:00Z</dcterms:created>
  <dcterms:modified xsi:type="dcterms:W3CDTF">2026-05-08T06:45:23Z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运营商用户行为分析与用户分群","ContentProducer":"001191110108MACG2KBH8F10000","ProduceID":"19e05469-a1e2-8b35-8000-0000f4ec4d90","ReservedCode1":"","ContentPropagator":"001191110108MACG2KBH8F20000","PropagateID":"19e05469-a1e2-8b35-8000-0000f4ec4d90","ReservedCode2":""}</vt:lpwstr>
  </property>
  <property fmtid="{D5CDD505-2E9C-101B-9397-08002B2CF9AE}" pid="3" name="KSOProductBuildVer">
    <vt:lpwstr>2052-12.1.0.25865</vt:lpwstr>
  </property>
  <property fmtid="{D5CDD505-2E9C-101B-9397-08002B2CF9AE}" pid="4" name="ICV">
    <vt:lpwstr>12ED5CD89F4F4AEE8FC8F64DACB5560C_13</vt:lpwstr>
  </property>
</Properties>
</file>